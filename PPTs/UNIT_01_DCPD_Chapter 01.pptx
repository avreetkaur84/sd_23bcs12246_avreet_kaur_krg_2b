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7" r:id="rId2"/>
    <p:sldId id="256" r:id="rId3"/>
    <p:sldId id="258" r:id="rId4"/>
    <p:sldId id="259" r:id="rId5"/>
    <p:sldId id="260" r:id="rId6"/>
    <p:sldId id="261" r:id="rId7"/>
    <p:sldId id="262" r:id="rId8"/>
    <p:sldId id="263" r:id="rId9"/>
    <p:sldId id="264" r:id="rId10"/>
    <p:sldId id="265" r:id="rId11"/>
    <p:sldId id="266" r:id="rId12"/>
    <p:sldId id="268" r:id="rId13"/>
    <p:sldId id="270" r:id="rId14"/>
    <p:sldId id="267" r:id="rId15"/>
    <p:sldId id="271" r:id="rId16"/>
    <p:sldId id="272" r:id="rId17"/>
    <p:sldId id="269"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9" r:id="rId31"/>
    <p:sldId id="285" r:id="rId32"/>
    <p:sldId id="286" r:id="rId33"/>
    <p:sldId id="287" r:id="rId34"/>
    <p:sldId id="288" r:id="rId35"/>
    <p:sldId id="290" r:id="rId36"/>
    <p:sldId id="291" r:id="rId37"/>
    <p:sldId id="292" r:id="rId38"/>
    <p:sldId id="293" r:id="rId39"/>
    <p:sldId id="294" r:id="rId40"/>
    <p:sldId id="295" r:id="rId41"/>
    <p:sldId id="296" r:id="rId42"/>
    <p:sldId id="297" r:id="rId43"/>
    <p:sldId id="298" r:id="rId44"/>
    <p:sldId id="299" r:id="rId45"/>
    <p:sldId id="300"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954"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29F0A1-5E25-4B09-B6EC-FF5CA4F986B8}" type="datetimeFigureOut">
              <a:rPr lang="en-IN" smtClean="0"/>
              <a:t>05-01-2026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99E7B4-FA7B-484D-A6FF-23E97CC8B1D0}" type="slidenum">
              <a:rPr lang="en-IN" smtClean="0"/>
              <a:t>‹#›</a:t>
            </a:fld>
            <a:endParaRPr lang="en-IN"/>
          </a:p>
        </p:txBody>
      </p:sp>
    </p:spTree>
    <p:extLst>
      <p:ext uri="{BB962C8B-B14F-4D97-AF65-F5344CB8AC3E}">
        <p14:creationId xmlns:p14="http://schemas.microsoft.com/office/powerpoint/2010/main" val="3277424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6D78C-99EF-1A45-F578-50EE14B1BD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D98B5D3-A57B-2515-BA4E-C4D4DC76BB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27C2506-D4CC-5379-50E3-BDFCAFF534F4}"/>
              </a:ext>
            </a:extLst>
          </p:cNvPr>
          <p:cNvSpPr>
            <a:spLocks noGrp="1"/>
          </p:cNvSpPr>
          <p:nvPr>
            <p:ph type="dt" sz="half" idx="10"/>
          </p:nvPr>
        </p:nvSpPr>
        <p:spPr>
          <a:xfrm>
            <a:off x="838200" y="6356350"/>
            <a:ext cx="2743200" cy="365125"/>
          </a:xfrm>
          <a:prstGeom prst="rect">
            <a:avLst/>
          </a:prstGeom>
        </p:spPr>
        <p:txBody>
          <a:bodyPr/>
          <a:lstStyle/>
          <a:p>
            <a:fld id="{6C845BAC-0416-484D-BAEA-2127D5BC8B71}" type="datetimeFigureOut">
              <a:rPr lang="en-IN" smtClean="0"/>
              <a:t>05-01-2026</a:t>
            </a:fld>
            <a:endParaRPr lang="en-IN"/>
          </a:p>
        </p:txBody>
      </p:sp>
      <p:sp>
        <p:nvSpPr>
          <p:cNvPr id="6" name="Slide Number Placeholder 5">
            <a:extLst>
              <a:ext uri="{FF2B5EF4-FFF2-40B4-BE49-F238E27FC236}">
                <a16:creationId xmlns:a16="http://schemas.microsoft.com/office/drawing/2014/main" id="{396590CA-F7B5-7370-451D-BFBE43902052}"/>
              </a:ext>
            </a:extLst>
          </p:cNvPr>
          <p:cNvSpPr>
            <a:spLocks noGrp="1"/>
          </p:cNvSpPr>
          <p:nvPr>
            <p:ph type="sldNum" sz="quarter" idx="12"/>
          </p:nvPr>
        </p:nvSpPr>
        <p:spPr>
          <a:xfrm>
            <a:off x="8610600" y="6356350"/>
            <a:ext cx="2743200" cy="365125"/>
          </a:xfrm>
          <a:prstGeom prst="rect">
            <a:avLst/>
          </a:prstGeom>
        </p:spPr>
        <p:txBody>
          <a:bodyPr/>
          <a:lstStyle/>
          <a:p>
            <a:fld id="{A78B2B4F-0C9A-4B38-B62A-07752EBB9503}" type="slidenum">
              <a:rPr lang="en-IN" smtClean="0"/>
              <a:t>‹#›</a:t>
            </a:fld>
            <a:endParaRPr lang="en-IN"/>
          </a:p>
        </p:txBody>
      </p:sp>
    </p:spTree>
    <p:extLst>
      <p:ext uri="{BB962C8B-B14F-4D97-AF65-F5344CB8AC3E}">
        <p14:creationId xmlns:p14="http://schemas.microsoft.com/office/powerpoint/2010/main" val="4066819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F18DD-A755-CFBB-0CD7-B685DB310BB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99C9DDB-1CB5-8D1D-CA42-7CD7FBB6BA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1DBBED-BBC2-AB2F-DCBC-71FBE6100EA9}"/>
              </a:ext>
            </a:extLst>
          </p:cNvPr>
          <p:cNvSpPr>
            <a:spLocks noGrp="1"/>
          </p:cNvSpPr>
          <p:nvPr>
            <p:ph type="dt" sz="half" idx="10"/>
          </p:nvPr>
        </p:nvSpPr>
        <p:spPr>
          <a:xfrm>
            <a:off x="838200" y="6356350"/>
            <a:ext cx="2743200" cy="365125"/>
          </a:xfrm>
          <a:prstGeom prst="rect">
            <a:avLst/>
          </a:prstGeom>
        </p:spPr>
        <p:txBody>
          <a:bodyPr/>
          <a:lstStyle/>
          <a:p>
            <a:fld id="{6C845BAC-0416-484D-BAEA-2127D5BC8B71}" type="datetimeFigureOut">
              <a:rPr lang="en-IN" smtClean="0"/>
              <a:t>05-01-2026</a:t>
            </a:fld>
            <a:endParaRPr lang="en-IN"/>
          </a:p>
        </p:txBody>
      </p:sp>
      <p:sp>
        <p:nvSpPr>
          <p:cNvPr id="5" name="Footer Placeholder 4">
            <a:extLst>
              <a:ext uri="{FF2B5EF4-FFF2-40B4-BE49-F238E27FC236}">
                <a16:creationId xmlns:a16="http://schemas.microsoft.com/office/drawing/2014/main" id="{DE8D5BBB-30BD-C320-8FE1-2A9A4FD3F3C3}"/>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19CD35AF-AB9E-773F-735D-35A8AFFDF627}"/>
              </a:ext>
            </a:extLst>
          </p:cNvPr>
          <p:cNvSpPr>
            <a:spLocks noGrp="1"/>
          </p:cNvSpPr>
          <p:nvPr>
            <p:ph type="sldNum" sz="quarter" idx="12"/>
          </p:nvPr>
        </p:nvSpPr>
        <p:spPr>
          <a:xfrm>
            <a:off x="8610600" y="6356350"/>
            <a:ext cx="2743200" cy="365125"/>
          </a:xfrm>
          <a:prstGeom prst="rect">
            <a:avLst/>
          </a:prstGeom>
        </p:spPr>
        <p:txBody>
          <a:bodyPr/>
          <a:lstStyle/>
          <a:p>
            <a:fld id="{A78B2B4F-0C9A-4B38-B62A-07752EBB9503}" type="slidenum">
              <a:rPr lang="en-IN" smtClean="0"/>
              <a:t>‹#›</a:t>
            </a:fld>
            <a:endParaRPr lang="en-IN"/>
          </a:p>
        </p:txBody>
      </p:sp>
    </p:spTree>
    <p:extLst>
      <p:ext uri="{BB962C8B-B14F-4D97-AF65-F5344CB8AC3E}">
        <p14:creationId xmlns:p14="http://schemas.microsoft.com/office/powerpoint/2010/main" val="1686520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04AEA-3EC5-9702-B3D3-6CCC3C08BD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DFB346E-CF00-B0A2-90B7-CACDDA7250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7B4F28-914C-E0C8-CFED-AB764A66428E}"/>
              </a:ext>
            </a:extLst>
          </p:cNvPr>
          <p:cNvSpPr>
            <a:spLocks noGrp="1"/>
          </p:cNvSpPr>
          <p:nvPr>
            <p:ph type="dt" sz="half" idx="10"/>
          </p:nvPr>
        </p:nvSpPr>
        <p:spPr>
          <a:xfrm>
            <a:off x="838200" y="6356350"/>
            <a:ext cx="2743200" cy="365125"/>
          </a:xfrm>
          <a:prstGeom prst="rect">
            <a:avLst/>
          </a:prstGeom>
        </p:spPr>
        <p:txBody>
          <a:bodyPr/>
          <a:lstStyle/>
          <a:p>
            <a:fld id="{6C845BAC-0416-484D-BAEA-2127D5BC8B71}" type="datetimeFigureOut">
              <a:rPr lang="en-IN" smtClean="0"/>
              <a:t>05-01-2026</a:t>
            </a:fld>
            <a:endParaRPr lang="en-IN"/>
          </a:p>
        </p:txBody>
      </p:sp>
      <p:sp>
        <p:nvSpPr>
          <p:cNvPr id="5" name="Footer Placeholder 4">
            <a:extLst>
              <a:ext uri="{FF2B5EF4-FFF2-40B4-BE49-F238E27FC236}">
                <a16:creationId xmlns:a16="http://schemas.microsoft.com/office/drawing/2014/main" id="{2EC5B00F-7B2A-451A-7926-A8D0C7CC73A0}"/>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DFB4A9BA-7F55-175E-38E2-583A9E63F98B}"/>
              </a:ext>
            </a:extLst>
          </p:cNvPr>
          <p:cNvSpPr>
            <a:spLocks noGrp="1"/>
          </p:cNvSpPr>
          <p:nvPr>
            <p:ph type="sldNum" sz="quarter" idx="12"/>
          </p:nvPr>
        </p:nvSpPr>
        <p:spPr>
          <a:xfrm>
            <a:off x="8610600" y="6356350"/>
            <a:ext cx="2743200" cy="365125"/>
          </a:xfrm>
          <a:prstGeom prst="rect">
            <a:avLst/>
          </a:prstGeom>
        </p:spPr>
        <p:txBody>
          <a:bodyPr/>
          <a:lstStyle/>
          <a:p>
            <a:fld id="{A78B2B4F-0C9A-4B38-B62A-07752EBB9503}" type="slidenum">
              <a:rPr lang="en-IN" smtClean="0"/>
              <a:t>‹#›</a:t>
            </a:fld>
            <a:endParaRPr lang="en-IN"/>
          </a:p>
        </p:txBody>
      </p:sp>
    </p:spTree>
    <p:extLst>
      <p:ext uri="{BB962C8B-B14F-4D97-AF65-F5344CB8AC3E}">
        <p14:creationId xmlns:p14="http://schemas.microsoft.com/office/powerpoint/2010/main" val="3975326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3AC30-0F38-8E87-830F-5926ACB0A68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6098BC-0A40-ACD9-DA35-1F322AA327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F8A1D33-0BA3-E363-A865-EB669423BF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A30EA7-DCE1-0292-841F-A7B8FE9EFE2F}"/>
              </a:ext>
            </a:extLst>
          </p:cNvPr>
          <p:cNvSpPr>
            <a:spLocks noGrp="1"/>
          </p:cNvSpPr>
          <p:nvPr>
            <p:ph type="dt" sz="half" idx="10"/>
          </p:nvPr>
        </p:nvSpPr>
        <p:spPr>
          <a:xfrm>
            <a:off x="838200" y="6356350"/>
            <a:ext cx="2743200" cy="365125"/>
          </a:xfrm>
          <a:prstGeom prst="rect">
            <a:avLst/>
          </a:prstGeom>
        </p:spPr>
        <p:txBody>
          <a:bodyPr/>
          <a:lstStyle/>
          <a:p>
            <a:fld id="{6C845BAC-0416-484D-BAEA-2127D5BC8B71}" type="datetimeFigureOut">
              <a:rPr lang="en-IN" smtClean="0"/>
              <a:t>05-01-2026</a:t>
            </a:fld>
            <a:endParaRPr lang="en-IN"/>
          </a:p>
        </p:txBody>
      </p:sp>
      <p:sp>
        <p:nvSpPr>
          <p:cNvPr id="6" name="Footer Placeholder 5">
            <a:extLst>
              <a:ext uri="{FF2B5EF4-FFF2-40B4-BE49-F238E27FC236}">
                <a16:creationId xmlns:a16="http://schemas.microsoft.com/office/drawing/2014/main" id="{53464A1A-5341-F5BE-A024-98C4DF8F4D6B}"/>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a:extLst>
              <a:ext uri="{FF2B5EF4-FFF2-40B4-BE49-F238E27FC236}">
                <a16:creationId xmlns:a16="http://schemas.microsoft.com/office/drawing/2014/main" id="{BAAF6166-8547-A91D-9A85-CDA39436E978}"/>
              </a:ext>
            </a:extLst>
          </p:cNvPr>
          <p:cNvSpPr>
            <a:spLocks noGrp="1"/>
          </p:cNvSpPr>
          <p:nvPr>
            <p:ph type="sldNum" sz="quarter" idx="12"/>
          </p:nvPr>
        </p:nvSpPr>
        <p:spPr>
          <a:xfrm>
            <a:off x="8610600" y="6356350"/>
            <a:ext cx="2743200" cy="365125"/>
          </a:xfrm>
          <a:prstGeom prst="rect">
            <a:avLst/>
          </a:prstGeom>
        </p:spPr>
        <p:txBody>
          <a:bodyPr/>
          <a:lstStyle/>
          <a:p>
            <a:fld id="{A78B2B4F-0C9A-4B38-B62A-07752EBB9503}" type="slidenum">
              <a:rPr lang="en-IN" smtClean="0"/>
              <a:t>‹#›</a:t>
            </a:fld>
            <a:endParaRPr lang="en-IN"/>
          </a:p>
        </p:txBody>
      </p:sp>
    </p:spTree>
    <p:extLst>
      <p:ext uri="{BB962C8B-B14F-4D97-AF65-F5344CB8AC3E}">
        <p14:creationId xmlns:p14="http://schemas.microsoft.com/office/powerpoint/2010/main" val="285202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21C8E-A180-D56B-742B-B625B172705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86C0777-6852-006C-0740-A94F755D2F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48F93B-0074-2276-0DCD-4019B0233E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770C023-1E10-D660-6ABA-301E796EAE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D96886-4647-F9D0-DC9F-26C5D61E10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5EF190F-49C7-86E8-5121-F0E560D014D4}"/>
              </a:ext>
            </a:extLst>
          </p:cNvPr>
          <p:cNvSpPr>
            <a:spLocks noGrp="1"/>
          </p:cNvSpPr>
          <p:nvPr>
            <p:ph type="dt" sz="half" idx="10"/>
          </p:nvPr>
        </p:nvSpPr>
        <p:spPr>
          <a:xfrm>
            <a:off x="838200" y="6356350"/>
            <a:ext cx="2743200" cy="365125"/>
          </a:xfrm>
          <a:prstGeom prst="rect">
            <a:avLst/>
          </a:prstGeom>
        </p:spPr>
        <p:txBody>
          <a:bodyPr/>
          <a:lstStyle/>
          <a:p>
            <a:fld id="{6C845BAC-0416-484D-BAEA-2127D5BC8B71}" type="datetimeFigureOut">
              <a:rPr lang="en-IN" smtClean="0"/>
              <a:t>05-01-2026</a:t>
            </a:fld>
            <a:endParaRPr lang="en-IN"/>
          </a:p>
        </p:txBody>
      </p:sp>
      <p:sp>
        <p:nvSpPr>
          <p:cNvPr id="8" name="Footer Placeholder 7">
            <a:extLst>
              <a:ext uri="{FF2B5EF4-FFF2-40B4-BE49-F238E27FC236}">
                <a16:creationId xmlns:a16="http://schemas.microsoft.com/office/drawing/2014/main" id="{5EAEE35A-9128-9F3D-9585-22FC19AD15C1}"/>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9" name="Slide Number Placeholder 8">
            <a:extLst>
              <a:ext uri="{FF2B5EF4-FFF2-40B4-BE49-F238E27FC236}">
                <a16:creationId xmlns:a16="http://schemas.microsoft.com/office/drawing/2014/main" id="{0F14B6FC-309B-CF46-9B84-7A7F65B80CE2}"/>
              </a:ext>
            </a:extLst>
          </p:cNvPr>
          <p:cNvSpPr>
            <a:spLocks noGrp="1"/>
          </p:cNvSpPr>
          <p:nvPr>
            <p:ph type="sldNum" sz="quarter" idx="12"/>
          </p:nvPr>
        </p:nvSpPr>
        <p:spPr>
          <a:xfrm>
            <a:off x="8610600" y="6356350"/>
            <a:ext cx="2743200" cy="365125"/>
          </a:xfrm>
          <a:prstGeom prst="rect">
            <a:avLst/>
          </a:prstGeom>
        </p:spPr>
        <p:txBody>
          <a:bodyPr/>
          <a:lstStyle/>
          <a:p>
            <a:fld id="{A78B2B4F-0C9A-4B38-B62A-07752EBB9503}" type="slidenum">
              <a:rPr lang="en-IN" smtClean="0"/>
              <a:t>‹#›</a:t>
            </a:fld>
            <a:endParaRPr lang="en-IN"/>
          </a:p>
        </p:txBody>
      </p:sp>
    </p:spTree>
    <p:extLst>
      <p:ext uri="{BB962C8B-B14F-4D97-AF65-F5344CB8AC3E}">
        <p14:creationId xmlns:p14="http://schemas.microsoft.com/office/powerpoint/2010/main" val="299659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5F7D6-D703-3FC8-B0DC-EFE20A70231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BC02542-A686-8BF0-0406-6FDCA5A7CB38}"/>
              </a:ext>
            </a:extLst>
          </p:cNvPr>
          <p:cNvSpPr>
            <a:spLocks noGrp="1"/>
          </p:cNvSpPr>
          <p:nvPr>
            <p:ph type="dt" sz="half" idx="10"/>
          </p:nvPr>
        </p:nvSpPr>
        <p:spPr>
          <a:xfrm>
            <a:off x="838200" y="6356350"/>
            <a:ext cx="2743200" cy="365125"/>
          </a:xfrm>
          <a:prstGeom prst="rect">
            <a:avLst/>
          </a:prstGeom>
        </p:spPr>
        <p:txBody>
          <a:bodyPr/>
          <a:lstStyle/>
          <a:p>
            <a:fld id="{6C845BAC-0416-484D-BAEA-2127D5BC8B71}" type="datetimeFigureOut">
              <a:rPr lang="en-IN" smtClean="0"/>
              <a:t>05-01-2026</a:t>
            </a:fld>
            <a:endParaRPr lang="en-IN"/>
          </a:p>
        </p:txBody>
      </p:sp>
      <p:sp>
        <p:nvSpPr>
          <p:cNvPr id="4" name="Footer Placeholder 3">
            <a:extLst>
              <a:ext uri="{FF2B5EF4-FFF2-40B4-BE49-F238E27FC236}">
                <a16:creationId xmlns:a16="http://schemas.microsoft.com/office/drawing/2014/main" id="{2D032697-44E4-D15C-2E40-E6AF21005E59}"/>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9829C25E-14D2-5121-6EDE-08FCE677DA3A}"/>
              </a:ext>
            </a:extLst>
          </p:cNvPr>
          <p:cNvSpPr>
            <a:spLocks noGrp="1"/>
          </p:cNvSpPr>
          <p:nvPr>
            <p:ph type="sldNum" sz="quarter" idx="12"/>
          </p:nvPr>
        </p:nvSpPr>
        <p:spPr>
          <a:xfrm>
            <a:off x="8610600" y="6356350"/>
            <a:ext cx="2743200" cy="365125"/>
          </a:xfrm>
          <a:prstGeom prst="rect">
            <a:avLst/>
          </a:prstGeom>
        </p:spPr>
        <p:txBody>
          <a:bodyPr/>
          <a:lstStyle/>
          <a:p>
            <a:fld id="{A78B2B4F-0C9A-4B38-B62A-07752EBB9503}" type="slidenum">
              <a:rPr lang="en-IN" smtClean="0"/>
              <a:t>‹#›</a:t>
            </a:fld>
            <a:endParaRPr lang="en-IN"/>
          </a:p>
        </p:txBody>
      </p:sp>
    </p:spTree>
    <p:extLst>
      <p:ext uri="{BB962C8B-B14F-4D97-AF65-F5344CB8AC3E}">
        <p14:creationId xmlns:p14="http://schemas.microsoft.com/office/powerpoint/2010/main" val="1844030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90DDEF-7B9D-AE99-30CB-1062F51721DF}"/>
              </a:ext>
            </a:extLst>
          </p:cNvPr>
          <p:cNvSpPr>
            <a:spLocks noGrp="1"/>
          </p:cNvSpPr>
          <p:nvPr>
            <p:ph type="dt" sz="half" idx="10"/>
          </p:nvPr>
        </p:nvSpPr>
        <p:spPr>
          <a:xfrm>
            <a:off x="838200" y="6356350"/>
            <a:ext cx="2743200" cy="365125"/>
          </a:xfrm>
          <a:prstGeom prst="rect">
            <a:avLst/>
          </a:prstGeom>
        </p:spPr>
        <p:txBody>
          <a:bodyPr/>
          <a:lstStyle/>
          <a:p>
            <a:fld id="{6C845BAC-0416-484D-BAEA-2127D5BC8B71}" type="datetimeFigureOut">
              <a:rPr lang="en-IN" smtClean="0"/>
              <a:t>05-01-2026</a:t>
            </a:fld>
            <a:endParaRPr lang="en-IN"/>
          </a:p>
        </p:txBody>
      </p:sp>
      <p:sp>
        <p:nvSpPr>
          <p:cNvPr id="3" name="Footer Placeholder 2">
            <a:extLst>
              <a:ext uri="{FF2B5EF4-FFF2-40B4-BE49-F238E27FC236}">
                <a16:creationId xmlns:a16="http://schemas.microsoft.com/office/drawing/2014/main" id="{32CA9093-9BE2-5288-7B4A-0CEA9E83C766}"/>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4" name="Slide Number Placeholder 3">
            <a:extLst>
              <a:ext uri="{FF2B5EF4-FFF2-40B4-BE49-F238E27FC236}">
                <a16:creationId xmlns:a16="http://schemas.microsoft.com/office/drawing/2014/main" id="{FB64B7BD-4B1F-53AC-A395-DB9AAE97F610}"/>
              </a:ext>
            </a:extLst>
          </p:cNvPr>
          <p:cNvSpPr>
            <a:spLocks noGrp="1"/>
          </p:cNvSpPr>
          <p:nvPr>
            <p:ph type="sldNum" sz="quarter" idx="12"/>
          </p:nvPr>
        </p:nvSpPr>
        <p:spPr>
          <a:xfrm>
            <a:off x="8610600" y="6356350"/>
            <a:ext cx="2743200" cy="365125"/>
          </a:xfrm>
          <a:prstGeom prst="rect">
            <a:avLst/>
          </a:prstGeom>
        </p:spPr>
        <p:txBody>
          <a:bodyPr/>
          <a:lstStyle/>
          <a:p>
            <a:fld id="{A78B2B4F-0C9A-4B38-B62A-07752EBB9503}" type="slidenum">
              <a:rPr lang="en-IN" smtClean="0"/>
              <a:t>‹#›</a:t>
            </a:fld>
            <a:endParaRPr lang="en-IN"/>
          </a:p>
        </p:txBody>
      </p:sp>
    </p:spTree>
    <p:extLst>
      <p:ext uri="{BB962C8B-B14F-4D97-AF65-F5344CB8AC3E}">
        <p14:creationId xmlns:p14="http://schemas.microsoft.com/office/powerpoint/2010/main" val="41659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5171D-C9DE-8E8D-C4D6-5AD29F279A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34172AE-7607-8912-B509-80AC51891C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A83E3ED-1DC7-C3E1-A705-CBAB4FF7E4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1DB961-F90A-2D3A-03C4-22B591A6638B}"/>
              </a:ext>
            </a:extLst>
          </p:cNvPr>
          <p:cNvSpPr>
            <a:spLocks noGrp="1"/>
          </p:cNvSpPr>
          <p:nvPr>
            <p:ph type="dt" sz="half" idx="10"/>
          </p:nvPr>
        </p:nvSpPr>
        <p:spPr>
          <a:xfrm>
            <a:off x="838200" y="6356350"/>
            <a:ext cx="2743200" cy="365125"/>
          </a:xfrm>
          <a:prstGeom prst="rect">
            <a:avLst/>
          </a:prstGeom>
        </p:spPr>
        <p:txBody>
          <a:bodyPr/>
          <a:lstStyle/>
          <a:p>
            <a:fld id="{6C845BAC-0416-484D-BAEA-2127D5BC8B71}" type="datetimeFigureOut">
              <a:rPr lang="en-IN" smtClean="0"/>
              <a:t>05-01-2026</a:t>
            </a:fld>
            <a:endParaRPr lang="en-IN"/>
          </a:p>
        </p:txBody>
      </p:sp>
      <p:sp>
        <p:nvSpPr>
          <p:cNvPr id="6" name="Footer Placeholder 5">
            <a:extLst>
              <a:ext uri="{FF2B5EF4-FFF2-40B4-BE49-F238E27FC236}">
                <a16:creationId xmlns:a16="http://schemas.microsoft.com/office/drawing/2014/main" id="{793BF5EC-CE64-9E15-591D-D7D812F2E846}"/>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a:extLst>
              <a:ext uri="{FF2B5EF4-FFF2-40B4-BE49-F238E27FC236}">
                <a16:creationId xmlns:a16="http://schemas.microsoft.com/office/drawing/2014/main" id="{A2A6688D-61CE-22F7-B715-BE6CC921A775}"/>
              </a:ext>
            </a:extLst>
          </p:cNvPr>
          <p:cNvSpPr>
            <a:spLocks noGrp="1"/>
          </p:cNvSpPr>
          <p:nvPr>
            <p:ph type="sldNum" sz="quarter" idx="12"/>
          </p:nvPr>
        </p:nvSpPr>
        <p:spPr>
          <a:xfrm>
            <a:off x="8610600" y="6356350"/>
            <a:ext cx="2743200" cy="365125"/>
          </a:xfrm>
          <a:prstGeom prst="rect">
            <a:avLst/>
          </a:prstGeom>
        </p:spPr>
        <p:txBody>
          <a:bodyPr/>
          <a:lstStyle/>
          <a:p>
            <a:fld id="{A78B2B4F-0C9A-4B38-B62A-07752EBB9503}" type="slidenum">
              <a:rPr lang="en-IN" smtClean="0"/>
              <a:t>‹#›</a:t>
            </a:fld>
            <a:endParaRPr lang="en-IN"/>
          </a:p>
        </p:txBody>
      </p:sp>
    </p:spTree>
    <p:extLst>
      <p:ext uri="{BB962C8B-B14F-4D97-AF65-F5344CB8AC3E}">
        <p14:creationId xmlns:p14="http://schemas.microsoft.com/office/powerpoint/2010/main" val="1433480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F06F2-2578-6015-ACD8-5985E77CDB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CDCE94-9812-F627-852A-0D210F051B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2048C8B-5757-EF8F-CF93-CECFC76B15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414141-434F-8F2B-D8F9-51C79D5F5AF3}"/>
              </a:ext>
            </a:extLst>
          </p:cNvPr>
          <p:cNvSpPr>
            <a:spLocks noGrp="1"/>
          </p:cNvSpPr>
          <p:nvPr>
            <p:ph type="dt" sz="half" idx="10"/>
          </p:nvPr>
        </p:nvSpPr>
        <p:spPr>
          <a:xfrm>
            <a:off x="838200" y="6356350"/>
            <a:ext cx="2743200" cy="365125"/>
          </a:xfrm>
          <a:prstGeom prst="rect">
            <a:avLst/>
          </a:prstGeom>
        </p:spPr>
        <p:txBody>
          <a:bodyPr/>
          <a:lstStyle/>
          <a:p>
            <a:fld id="{6C845BAC-0416-484D-BAEA-2127D5BC8B71}" type="datetimeFigureOut">
              <a:rPr lang="en-IN" smtClean="0"/>
              <a:t>05-01-2026</a:t>
            </a:fld>
            <a:endParaRPr lang="en-IN"/>
          </a:p>
        </p:txBody>
      </p:sp>
      <p:sp>
        <p:nvSpPr>
          <p:cNvPr id="6" name="Footer Placeholder 5">
            <a:extLst>
              <a:ext uri="{FF2B5EF4-FFF2-40B4-BE49-F238E27FC236}">
                <a16:creationId xmlns:a16="http://schemas.microsoft.com/office/drawing/2014/main" id="{D7F2FF4E-5A4A-CEC1-C41C-22808D91B010}"/>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a:extLst>
              <a:ext uri="{FF2B5EF4-FFF2-40B4-BE49-F238E27FC236}">
                <a16:creationId xmlns:a16="http://schemas.microsoft.com/office/drawing/2014/main" id="{114F7F80-2640-22AA-51F6-E7692C35229B}"/>
              </a:ext>
            </a:extLst>
          </p:cNvPr>
          <p:cNvSpPr>
            <a:spLocks noGrp="1"/>
          </p:cNvSpPr>
          <p:nvPr>
            <p:ph type="sldNum" sz="quarter" idx="12"/>
          </p:nvPr>
        </p:nvSpPr>
        <p:spPr>
          <a:xfrm>
            <a:off x="8610600" y="6356350"/>
            <a:ext cx="2743200" cy="365125"/>
          </a:xfrm>
          <a:prstGeom prst="rect">
            <a:avLst/>
          </a:prstGeom>
        </p:spPr>
        <p:txBody>
          <a:bodyPr/>
          <a:lstStyle/>
          <a:p>
            <a:fld id="{A78B2B4F-0C9A-4B38-B62A-07752EBB9503}" type="slidenum">
              <a:rPr lang="en-IN" smtClean="0"/>
              <a:t>‹#›</a:t>
            </a:fld>
            <a:endParaRPr lang="en-IN"/>
          </a:p>
        </p:txBody>
      </p:sp>
    </p:spTree>
    <p:extLst>
      <p:ext uri="{BB962C8B-B14F-4D97-AF65-F5344CB8AC3E}">
        <p14:creationId xmlns:p14="http://schemas.microsoft.com/office/powerpoint/2010/main" val="790618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D18A-F33B-62CD-8421-B213039087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F9AA260-E76A-DC78-581E-8B09FBD0C1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87C488-358B-BF4F-7181-6E0EE9D32566}"/>
              </a:ext>
            </a:extLst>
          </p:cNvPr>
          <p:cNvSpPr>
            <a:spLocks noGrp="1"/>
          </p:cNvSpPr>
          <p:nvPr>
            <p:ph type="dt" sz="half" idx="10"/>
          </p:nvPr>
        </p:nvSpPr>
        <p:spPr>
          <a:xfrm>
            <a:off x="838200" y="6356350"/>
            <a:ext cx="2743200" cy="365125"/>
          </a:xfrm>
          <a:prstGeom prst="rect">
            <a:avLst/>
          </a:prstGeom>
        </p:spPr>
        <p:txBody>
          <a:bodyPr/>
          <a:lstStyle/>
          <a:p>
            <a:fld id="{6C845BAC-0416-484D-BAEA-2127D5BC8B71}" type="datetimeFigureOut">
              <a:rPr lang="en-IN" smtClean="0"/>
              <a:t>05-01-2026</a:t>
            </a:fld>
            <a:endParaRPr lang="en-IN"/>
          </a:p>
        </p:txBody>
      </p:sp>
      <p:sp>
        <p:nvSpPr>
          <p:cNvPr id="5" name="Footer Placeholder 4">
            <a:extLst>
              <a:ext uri="{FF2B5EF4-FFF2-40B4-BE49-F238E27FC236}">
                <a16:creationId xmlns:a16="http://schemas.microsoft.com/office/drawing/2014/main" id="{A8032AC1-9377-CE3F-776C-6871299099ED}"/>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622C4D44-0300-9A28-7A0E-947B8CD67EC2}"/>
              </a:ext>
            </a:extLst>
          </p:cNvPr>
          <p:cNvSpPr>
            <a:spLocks noGrp="1"/>
          </p:cNvSpPr>
          <p:nvPr>
            <p:ph type="sldNum" sz="quarter" idx="12"/>
          </p:nvPr>
        </p:nvSpPr>
        <p:spPr>
          <a:xfrm>
            <a:off x="8610600" y="6356350"/>
            <a:ext cx="2743200" cy="365125"/>
          </a:xfrm>
          <a:prstGeom prst="rect">
            <a:avLst/>
          </a:prstGeom>
        </p:spPr>
        <p:txBody>
          <a:bodyPr/>
          <a:lstStyle/>
          <a:p>
            <a:fld id="{A78B2B4F-0C9A-4B38-B62A-07752EBB9503}" type="slidenum">
              <a:rPr lang="en-IN" smtClean="0"/>
              <a:t>‹#›</a:t>
            </a:fld>
            <a:endParaRPr lang="en-IN"/>
          </a:p>
        </p:txBody>
      </p:sp>
    </p:spTree>
    <p:extLst>
      <p:ext uri="{BB962C8B-B14F-4D97-AF65-F5344CB8AC3E}">
        <p14:creationId xmlns:p14="http://schemas.microsoft.com/office/powerpoint/2010/main" val="27381699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AEEF5A-37B0-5F01-C88D-1211EA79589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9A57649-4B68-306A-3D3F-D7B6268CFD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F4069F-F578-2D42-6E1F-E6588B48428D}"/>
              </a:ext>
            </a:extLst>
          </p:cNvPr>
          <p:cNvSpPr>
            <a:spLocks noGrp="1"/>
          </p:cNvSpPr>
          <p:nvPr>
            <p:ph type="dt" sz="half" idx="10"/>
          </p:nvPr>
        </p:nvSpPr>
        <p:spPr>
          <a:xfrm>
            <a:off x="838200" y="6356350"/>
            <a:ext cx="2743200" cy="365125"/>
          </a:xfrm>
          <a:prstGeom prst="rect">
            <a:avLst/>
          </a:prstGeom>
        </p:spPr>
        <p:txBody>
          <a:bodyPr/>
          <a:lstStyle/>
          <a:p>
            <a:fld id="{6C845BAC-0416-484D-BAEA-2127D5BC8B71}" type="datetimeFigureOut">
              <a:rPr lang="en-IN" smtClean="0"/>
              <a:t>05-01-2026</a:t>
            </a:fld>
            <a:endParaRPr lang="en-IN"/>
          </a:p>
        </p:txBody>
      </p:sp>
      <p:sp>
        <p:nvSpPr>
          <p:cNvPr id="5" name="Footer Placeholder 4">
            <a:extLst>
              <a:ext uri="{FF2B5EF4-FFF2-40B4-BE49-F238E27FC236}">
                <a16:creationId xmlns:a16="http://schemas.microsoft.com/office/drawing/2014/main" id="{3C435FB8-FF33-2D7B-DAD9-8D74989CCD68}"/>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4EC4D1DF-C4F5-BF04-1F0A-4C1BF2F5B00F}"/>
              </a:ext>
            </a:extLst>
          </p:cNvPr>
          <p:cNvSpPr>
            <a:spLocks noGrp="1"/>
          </p:cNvSpPr>
          <p:nvPr>
            <p:ph type="sldNum" sz="quarter" idx="12"/>
          </p:nvPr>
        </p:nvSpPr>
        <p:spPr>
          <a:xfrm>
            <a:off x="8610600" y="6356350"/>
            <a:ext cx="2743200" cy="365125"/>
          </a:xfrm>
          <a:prstGeom prst="rect">
            <a:avLst/>
          </a:prstGeom>
        </p:spPr>
        <p:txBody>
          <a:bodyPr/>
          <a:lstStyle/>
          <a:p>
            <a:fld id="{A78B2B4F-0C9A-4B38-B62A-07752EBB9503}" type="slidenum">
              <a:rPr lang="en-IN" smtClean="0"/>
              <a:t>‹#›</a:t>
            </a:fld>
            <a:endParaRPr lang="en-IN"/>
          </a:p>
        </p:txBody>
      </p:sp>
    </p:spTree>
    <p:extLst>
      <p:ext uri="{BB962C8B-B14F-4D97-AF65-F5344CB8AC3E}">
        <p14:creationId xmlns:p14="http://schemas.microsoft.com/office/powerpoint/2010/main" val="161306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A63AEA-BBEA-2A34-5D33-BD2CDE2E5C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1448A46-9668-EAA2-2EA1-59083383AB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7" name="Picture 6">
            <a:extLst>
              <a:ext uri="{FF2B5EF4-FFF2-40B4-BE49-F238E27FC236}">
                <a16:creationId xmlns:a16="http://schemas.microsoft.com/office/drawing/2014/main" id="{D32F4E73-A27F-8EB1-C55E-C37A140C5BEC}"/>
              </a:ext>
            </a:extLst>
          </p:cNvPr>
          <p:cNvPicPr>
            <a:picLocks noChangeAspect="1"/>
          </p:cNvPicPr>
          <p:nvPr userDrawn="1"/>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72908" y="23813"/>
            <a:ext cx="11320757" cy="799023"/>
          </a:xfrm>
          <a:prstGeom prst="rect">
            <a:avLst/>
          </a:prstGeom>
          <a:noFill/>
          <a:ln>
            <a:noFill/>
          </a:ln>
        </p:spPr>
      </p:pic>
    </p:spTree>
    <p:extLst>
      <p:ext uri="{BB962C8B-B14F-4D97-AF65-F5344CB8AC3E}">
        <p14:creationId xmlns:p14="http://schemas.microsoft.com/office/powerpoint/2010/main" val="34098457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techcrunch.com/2019/03/14/facebook-blames-a-misconfigured-server-for-yesterdays-outage/"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D070E-AA4F-A340-F3F1-A55DE7DB58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67A405-C033-3A99-F7A7-E6893347DDD4}"/>
              </a:ext>
            </a:extLst>
          </p:cNvPr>
          <p:cNvSpPr>
            <a:spLocks noGrp="1"/>
          </p:cNvSpPr>
          <p:nvPr>
            <p:ph type="ctrTitle"/>
          </p:nvPr>
        </p:nvSpPr>
        <p:spPr/>
        <p:txBody>
          <a:bodyPr/>
          <a:lstStyle/>
          <a:p>
            <a:r>
              <a:rPr lang="en-US" b="1" dirty="0"/>
              <a:t>Department of Career Planning &amp; Development</a:t>
            </a:r>
            <a:endParaRPr lang="en-IN" b="1" dirty="0"/>
          </a:p>
        </p:txBody>
      </p:sp>
      <p:sp>
        <p:nvSpPr>
          <p:cNvPr id="3" name="Subtitle 2">
            <a:extLst>
              <a:ext uri="{FF2B5EF4-FFF2-40B4-BE49-F238E27FC236}">
                <a16:creationId xmlns:a16="http://schemas.microsoft.com/office/drawing/2014/main" id="{61A55048-0F5B-0687-99CA-499C685B1AE1}"/>
              </a:ext>
            </a:extLst>
          </p:cNvPr>
          <p:cNvSpPr>
            <a:spLocks noGrp="1"/>
          </p:cNvSpPr>
          <p:nvPr>
            <p:ph type="subTitle" idx="1"/>
          </p:nvPr>
        </p:nvSpPr>
        <p:spPr>
          <a:xfrm>
            <a:off x="1187570" y="3602038"/>
            <a:ext cx="9144000" cy="2133599"/>
          </a:xfrm>
        </p:spPr>
        <p:txBody>
          <a:bodyPr>
            <a:normAutofit/>
          </a:bodyPr>
          <a:lstStyle/>
          <a:p>
            <a:r>
              <a:rPr lang="en-US" dirty="0"/>
              <a:t>BE-CSE – 6th Semester</a:t>
            </a:r>
            <a:br>
              <a:rPr lang="en-US" dirty="0"/>
            </a:br>
            <a:r>
              <a:rPr lang="en-US" b="1" dirty="0"/>
              <a:t>SYSTEM DESIGN</a:t>
            </a:r>
          </a:p>
          <a:p>
            <a:r>
              <a:rPr lang="en-US" dirty="0"/>
              <a:t>(23CSH-314/23ITH-314)</a:t>
            </a:r>
            <a:br>
              <a:rPr lang="en-US" dirty="0"/>
            </a:br>
            <a:br>
              <a:rPr lang="en-US" dirty="0"/>
            </a:br>
            <a:r>
              <a:rPr lang="en-US" dirty="0"/>
              <a:t>UNIT 01 – CHAPTER 01</a:t>
            </a:r>
            <a:endParaRPr lang="en-IN" dirty="0"/>
          </a:p>
        </p:txBody>
      </p:sp>
      <p:sp>
        <p:nvSpPr>
          <p:cNvPr id="4" name="TextBox 3">
            <a:extLst>
              <a:ext uri="{FF2B5EF4-FFF2-40B4-BE49-F238E27FC236}">
                <a16:creationId xmlns:a16="http://schemas.microsoft.com/office/drawing/2014/main" id="{F486BBA5-87B5-7E61-63AD-519C512EA7F0}"/>
              </a:ext>
            </a:extLst>
          </p:cNvPr>
          <p:cNvSpPr txBox="1"/>
          <p:nvPr/>
        </p:nvSpPr>
        <p:spPr>
          <a:xfrm>
            <a:off x="2530262" y="6124603"/>
            <a:ext cx="7735171" cy="646331"/>
          </a:xfrm>
          <a:prstGeom prst="rect">
            <a:avLst/>
          </a:prstGeom>
          <a:noFill/>
        </p:spPr>
        <p:txBody>
          <a:bodyPr wrap="square" rtlCol="0">
            <a:spAutoFit/>
          </a:bodyPr>
          <a:lstStyle/>
          <a:p>
            <a:pPr algn="ctr"/>
            <a:r>
              <a:rPr lang="en-US" dirty="0"/>
              <a:t>ALOK KUMAR – ASSISTANT PROFESSOR &amp; KARGIL TECHINCAL TRAINER (DCPD) </a:t>
            </a:r>
            <a:br>
              <a:rPr lang="en-US" dirty="0"/>
            </a:br>
            <a:r>
              <a:rPr lang="en-US" dirty="0"/>
              <a:t>EMAIL: DCPD.KARGILT1@CUMAIL.IN</a:t>
            </a:r>
            <a:endParaRPr lang="en-IN" dirty="0"/>
          </a:p>
        </p:txBody>
      </p:sp>
    </p:spTree>
    <p:extLst>
      <p:ext uri="{BB962C8B-B14F-4D97-AF65-F5344CB8AC3E}">
        <p14:creationId xmlns:p14="http://schemas.microsoft.com/office/powerpoint/2010/main" val="3606461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66BC0B7-E2EA-8D65-C188-320B3E8AE286}"/>
              </a:ext>
            </a:extLst>
          </p:cNvPr>
          <p:cNvSpPr txBox="1"/>
          <p:nvPr/>
        </p:nvSpPr>
        <p:spPr>
          <a:xfrm>
            <a:off x="593557" y="930442"/>
            <a:ext cx="11117180" cy="569386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CONTENTS – CHAPTER 01</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1. System Design basics </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2. High-Level Design (HLD) vs Low-Level Design (LLD) </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3. Functional vs Non-functional Requirements</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4. Latency</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5. Throughput</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6. QPS</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7. Availability</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8. Scaling challenges.</a:t>
            </a:r>
            <a:br>
              <a:rPr lang="en-US" dirty="0"/>
            </a:br>
            <a:endParaRPr lang="en-IN" dirty="0"/>
          </a:p>
        </p:txBody>
      </p:sp>
    </p:spTree>
    <p:extLst>
      <p:ext uri="{BB962C8B-B14F-4D97-AF65-F5344CB8AC3E}">
        <p14:creationId xmlns:p14="http://schemas.microsoft.com/office/powerpoint/2010/main" val="3494426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353CA-3085-C001-D63E-513ECC01A033}"/>
              </a:ext>
            </a:extLst>
          </p:cNvPr>
          <p:cNvSpPr>
            <a:spLocks noGrp="1"/>
          </p:cNvSpPr>
          <p:nvPr>
            <p:ph type="title"/>
          </p:nvPr>
        </p:nvSpPr>
        <p:spPr>
          <a:xfrm>
            <a:off x="501316" y="777290"/>
            <a:ext cx="10515600" cy="682543"/>
          </a:xfrm>
        </p:spPr>
        <p:txBody>
          <a:bodyPr>
            <a:normAutofit fontScale="90000"/>
          </a:bodyPr>
          <a:lstStyle/>
          <a:p>
            <a:r>
              <a:rPr lang="en-US" b="1" dirty="0"/>
              <a:t>Communication – FE, BE &amp; API’s</a:t>
            </a:r>
            <a:endParaRPr lang="en-IN" b="1" dirty="0"/>
          </a:p>
        </p:txBody>
      </p:sp>
      <p:pic>
        <p:nvPicPr>
          <p:cNvPr id="9" name="Picture 8">
            <a:extLst>
              <a:ext uri="{FF2B5EF4-FFF2-40B4-BE49-F238E27FC236}">
                <a16:creationId xmlns:a16="http://schemas.microsoft.com/office/drawing/2014/main" id="{BF6AEA93-EE3D-4D16-8CE6-54CBEF7E923A}"/>
              </a:ext>
            </a:extLst>
          </p:cNvPr>
          <p:cNvPicPr>
            <a:picLocks noChangeAspect="1"/>
          </p:cNvPicPr>
          <p:nvPr/>
        </p:nvPicPr>
        <p:blipFill>
          <a:blip r:embed="rId2"/>
          <a:stretch>
            <a:fillRect/>
          </a:stretch>
        </p:blipFill>
        <p:spPr>
          <a:xfrm>
            <a:off x="0" y="1592179"/>
            <a:ext cx="12192000" cy="3673641"/>
          </a:xfrm>
          <a:prstGeom prst="rect">
            <a:avLst/>
          </a:prstGeom>
        </p:spPr>
      </p:pic>
    </p:spTree>
    <p:extLst>
      <p:ext uri="{BB962C8B-B14F-4D97-AF65-F5344CB8AC3E}">
        <p14:creationId xmlns:p14="http://schemas.microsoft.com/office/powerpoint/2010/main" val="2326796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9EC0E-9704-7A35-446E-C0CA5DAB76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6E3A8A-0008-D4C3-EE0D-AD5CDDB636C1}"/>
              </a:ext>
            </a:extLst>
          </p:cNvPr>
          <p:cNvSpPr>
            <a:spLocks noGrp="1"/>
          </p:cNvSpPr>
          <p:nvPr>
            <p:ph type="title"/>
          </p:nvPr>
        </p:nvSpPr>
        <p:spPr>
          <a:xfrm>
            <a:off x="501316" y="777290"/>
            <a:ext cx="10515600" cy="682543"/>
          </a:xfrm>
        </p:spPr>
        <p:txBody>
          <a:bodyPr>
            <a:normAutofit fontScale="90000"/>
          </a:bodyPr>
          <a:lstStyle/>
          <a:p>
            <a:r>
              <a:rPr lang="en-US" b="1" dirty="0"/>
              <a:t>Communication – FE, BE &amp; API’s</a:t>
            </a:r>
            <a:endParaRPr lang="en-IN" b="1" dirty="0"/>
          </a:p>
        </p:txBody>
      </p:sp>
      <p:pic>
        <p:nvPicPr>
          <p:cNvPr id="4" name="Picture 3">
            <a:extLst>
              <a:ext uri="{FF2B5EF4-FFF2-40B4-BE49-F238E27FC236}">
                <a16:creationId xmlns:a16="http://schemas.microsoft.com/office/drawing/2014/main" id="{BF9D730B-120A-3FFA-169B-FA2FD89DA878}"/>
              </a:ext>
            </a:extLst>
          </p:cNvPr>
          <p:cNvPicPr>
            <a:picLocks noChangeAspect="1"/>
          </p:cNvPicPr>
          <p:nvPr/>
        </p:nvPicPr>
        <p:blipFill>
          <a:blip r:embed="rId2"/>
          <a:stretch>
            <a:fillRect/>
          </a:stretch>
        </p:blipFill>
        <p:spPr>
          <a:xfrm>
            <a:off x="156333" y="1844842"/>
            <a:ext cx="11879333" cy="3400926"/>
          </a:xfrm>
          <a:prstGeom prst="rect">
            <a:avLst/>
          </a:prstGeom>
        </p:spPr>
      </p:pic>
    </p:spTree>
    <p:extLst>
      <p:ext uri="{BB962C8B-B14F-4D97-AF65-F5344CB8AC3E}">
        <p14:creationId xmlns:p14="http://schemas.microsoft.com/office/powerpoint/2010/main" val="3334610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AA584-C4D0-BDE0-56EE-C7578355A8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507A32-492C-73C3-D703-9E837CC85F65}"/>
              </a:ext>
            </a:extLst>
          </p:cNvPr>
          <p:cNvSpPr>
            <a:spLocks noGrp="1"/>
          </p:cNvSpPr>
          <p:nvPr>
            <p:ph type="title"/>
          </p:nvPr>
        </p:nvSpPr>
        <p:spPr>
          <a:xfrm>
            <a:off x="501316" y="777290"/>
            <a:ext cx="10515600" cy="682543"/>
          </a:xfrm>
        </p:spPr>
        <p:txBody>
          <a:bodyPr>
            <a:normAutofit fontScale="90000"/>
          </a:bodyPr>
          <a:lstStyle/>
          <a:p>
            <a:r>
              <a:rPr lang="en-US" b="1" dirty="0"/>
              <a:t>Tech-Stack</a:t>
            </a:r>
            <a:endParaRPr lang="en-IN" b="1" dirty="0"/>
          </a:p>
        </p:txBody>
      </p:sp>
      <p:pic>
        <p:nvPicPr>
          <p:cNvPr id="5" name="Picture 4">
            <a:extLst>
              <a:ext uri="{FF2B5EF4-FFF2-40B4-BE49-F238E27FC236}">
                <a16:creationId xmlns:a16="http://schemas.microsoft.com/office/drawing/2014/main" id="{EF6A2028-1AFE-71FE-0BA2-C750A7FF0F82}"/>
              </a:ext>
            </a:extLst>
          </p:cNvPr>
          <p:cNvPicPr>
            <a:picLocks noChangeAspect="1"/>
          </p:cNvPicPr>
          <p:nvPr/>
        </p:nvPicPr>
        <p:blipFill>
          <a:blip r:embed="rId2"/>
          <a:stretch>
            <a:fillRect/>
          </a:stretch>
        </p:blipFill>
        <p:spPr>
          <a:xfrm>
            <a:off x="2346158" y="1459833"/>
            <a:ext cx="6401693" cy="4906060"/>
          </a:xfrm>
          <a:prstGeom prst="rect">
            <a:avLst/>
          </a:prstGeom>
        </p:spPr>
      </p:pic>
    </p:spTree>
    <p:extLst>
      <p:ext uri="{BB962C8B-B14F-4D97-AF65-F5344CB8AC3E}">
        <p14:creationId xmlns:p14="http://schemas.microsoft.com/office/powerpoint/2010/main" val="1666059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8E266-844F-2787-4198-57F2278C35B7}"/>
              </a:ext>
            </a:extLst>
          </p:cNvPr>
          <p:cNvSpPr>
            <a:spLocks noGrp="1"/>
          </p:cNvSpPr>
          <p:nvPr>
            <p:ph type="title"/>
          </p:nvPr>
        </p:nvSpPr>
        <p:spPr>
          <a:xfrm>
            <a:off x="838200" y="830346"/>
            <a:ext cx="10515600" cy="533233"/>
          </a:xfrm>
        </p:spPr>
        <p:txBody>
          <a:bodyPr>
            <a:normAutofit fontScale="90000"/>
          </a:bodyPr>
          <a:lstStyle/>
          <a:p>
            <a:r>
              <a:rPr lang="en-US" b="1" dirty="0"/>
              <a:t>Fundamentals – System Design</a:t>
            </a:r>
            <a:endParaRPr lang="en-IN" b="1" dirty="0"/>
          </a:p>
        </p:txBody>
      </p:sp>
      <p:sp>
        <p:nvSpPr>
          <p:cNvPr id="5" name="TextBox 4">
            <a:extLst>
              <a:ext uri="{FF2B5EF4-FFF2-40B4-BE49-F238E27FC236}">
                <a16:creationId xmlns:a16="http://schemas.microsoft.com/office/drawing/2014/main" id="{8794D441-188C-FE31-C265-DCF9E5C0479E}"/>
              </a:ext>
            </a:extLst>
          </p:cNvPr>
          <p:cNvSpPr txBox="1"/>
          <p:nvPr/>
        </p:nvSpPr>
        <p:spPr>
          <a:xfrm>
            <a:off x="994609" y="1601888"/>
            <a:ext cx="9577137" cy="384721"/>
          </a:xfrm>
          <a:prstGeom prst="rect">
            <a:avLst/>
          </a:prstGeom>
          <a:noFill/>
        </p:spPr>
        <p:txBody>
          <a:bodyPr wrap="square">
            <a:spAutoFit/>
          </a:bodyPr>
          <a:lstStyle/>
          <a:p>
            <a:r>
              <a:rPr lang="en-US" sz="1900" dirty="0"/>
              <a:t>Before understanding </a:t>
            </a:r>
            <a:r>
              <a:rPr lang="en-US" sz="1900" i="1" dirty="0"/>
              <a:t>System Design</a:t>
            </a:r>
            <a:r>
              <a:rPr lang="en-US" sz="1900" dirty="0"/>
              <a:t>, you must understand </a:t>
            </a:r>
            <a:r>
              <a:rPr lang="en-US" sz="1900" b="1" dirty="0"/>
              <a:t>what a system is</a:t>
            </a:r>
            <a:r>
              <a:rPr lang="en-US" sz="1900" dirty="0"/>
              <a:t>.</a:t>
            </a:r>
            <a:endParaRPr lang="en-IN" sz="1900" dirty="0"/>
          </a:p>
        </p:txBody>
      </p:sp>
      <p:sp>
        <p:nvSpPr>
          <p:cNvPr id="7" name="TextBox 6">
            <a:extLst>
              <a:ext uri="{FF2B5EF4-FFF2-40B4-BE49-F238E27FC236}">
                <a16:creationId xmlns:a16="http://schemas.microsoft.com/office/drawing/2014/main" id="{57A49AA9-2311-E1F6-A01C-26637EF8D58A}"/>
              </a:ext>
            </a:extLst>
          </p:cNvPr>
          <p:cNvSpPr txBox="1"/>
          <p:nvPr/>
        </p:nvSpPr>
        <p:spPr>
          <a:xfrm>
            <a:off x="994609" y="2167116"/>
            <a:ext cx="7876675" cy="1261884"/>
          </a:xfrm>
          <a:prstGeom prst="rect">
            <a:avLst/>
          </a:prstGeom>
          <a:noFill/>
        </p:spPr>
        <p:txBody>
          <a:bodyPr wrap="square">
            <a:spAutoFit/>
          </a:bodyPr>
          <a:lstStyle/>
          <a:p>
            <a:pPr>
              <a:buNone/>
            </a:pPr>
            <a:r>
              <a:rPr lang="en-US" sz="1900" dirty="0"/>
              <a:t>A </a:t>
            </a:r>
            <a:r>
              <a:rPr lang="en-US" sz="1900" b="1" dirty="0"/>
              <a:t>system</a:t>
            </a:r>
            <a:r>
              <a:rPr lang="en-US" sz="1900" dirty="0"/>
              <a:t> is a collection of </a:t>
            </a:r>
            <a:r>
              <a:rPr lang="en-US" sz="1900" b="1" dirty="0"/>
              <a:t>multiple components</a:t>
            </a:r>
            <a:r>
              <a:rPr lang="en-US" sz="1900" dirty="0"/>
              <a:t> that:</a:t>
            </a:r>
          </a:p>
          <a:p>
            <a:pPr>
              <a:buFont typeface="Arial" panose="020B0604020202020204" pitchFamily="34" charset="0"/>
              <a:buChar char="•"/>
            </a:pPr>
            <a:r>
              <a:rPr lang="en-US" sz="1900" dirty="0"/>
              <a:t>Work together</a:t>
            </a:r>
          </a:p>
          <a:p>
            <a:pPr>
              <a:buFont typeface="Arial" panose="020B0604020202020204" pitchFamily="34" charset="0"/>
              <a:buChar char="•"/>
            </a:pPr>
            <a:r>
              <a:rPr lang="en-US" sz="1900" dirty="0"/>
              <a:t>Interact with each other</a:t>
            </a:r>
          </a:p>
          <a:p>
            <a:pPr>
              <a:buFont typeface="Arial" panose="020B0604020202020204" pitchFamily="34" charset="0"/>
              <a:buChar char="•"/>
            </a:pPr>
            <a:r>
              <a:rPr lang="en-US" sz="1900" dirty="0"/>
              <a:t>Achieve a common goal</a:t>
            </a:r>
          </a:p>
        </p:txBody>
      </p:sp>
      <p:sp>
        <p:nvSpPr>
          <p:cNvPr id="9" name="TextBox 8">
            <a:extLst>
              <a:ext uri="{FF2B5EF4-FFF2-40B4-BE49-F238E27FC236}">
                <a16:creationId xmlns:a16="http://schemas.microsoft.com/office/drawing/2014/main" id="{E2312590-6BFE-6F11-AEAB-CB8438D4C9D7}"/>
              </a:ext>
            </a:extLst>
          </p:cNvPr>
          <p:cNvSpPr txBox="1"/>
          <p:nvPr/>
        </p:nvSpPr>
        <p:spPr>
          <a:xfrm>
            <a:off x="994609" y="3609507"/>
            <a:ext cx="6096000" cy="3308598"/>
          </a:xfrm>
          <a:prstGeom prst="rect">
            <a:avLst/>
          </a:prstGeom>
          <a:noFill/>
        </p:spPr>
        <p:txBody>
          <a:bodyPr wrap="square">
            <a:spAutoFit/>
          </a:bodyPr>
          <a:lstStyle/>
          <a:p>
            <a:pPr>
              <a:buNone/>
            </a:pPr>
            <a:r>
              <a:rPr lang="en-US" sz="1900" b="1" dirty="0"/>
              <a:t>Examples of Systems</a:t>
            </a:r>
          </a:p>
          <a:p>
            <a:pPr>
              <a:buFont typeface="Arial" panose="020B0604020202020204" pitchFamily="34" charset="0"/>
              <a:buChar char="•"/>
            </a:pPr>
            <a:r>
              <a:rPr lang="en-US" sz="1900" dirty="0"/>
              <a:t>Railway Reservation System</a:t>
            </a:r>
          </a:p>
          <a:p>
            <a:pPr>
              <a:buFont typeface="Arial" panose="020B0604020202020204" pitchFamily="34" charset="0"/>
              <a:buChar char="•"/>
            </a:pPr>
            <a:r>
              <a:rPr lang="en-US" sz="1900" dirty="0"/>
              <a:t>E-commerce Platform (Amazon)</a:t>
            </a:r>
          </a:p>
          <a:p>
            <a:pPr>
              <a:buFont typeface="Arial" panose="020B0604020202020204" pitchFamily="34" charset="0"/>
              <a:buChar char="•"/>
            </a:pPr>
            <a:r>
              <a:rPr lang="en-US" sz="1900" dirty="0"/>
              <a:t>Banking System</a:t>
            </a:r>
          </a:p>
          <a:p>
            <a:pPr>
              <a:buFont typeface="Arial" panose="020B0604020202020204" pitchFamily="34" charset="0"/>
              <a:buChar char="•"/>
            </a:pPr>
            <a:r>
              <a:rPr lang="en-US" sz="1900" dirty="0"/>
              <a:t>Hospital Management System</a:t>
            </a:r>
          </a:p>
          <a:p>
            <a:pPr>
              <a:buNone/>
            </a:pPr>
            <a:endParaRPr lang="en-US" sz="1900" dirty="0"/>
          </a:p>
          <a:p>
            <a:pPr>
              <a:buNone/>
            </a:pPr>
            <a:r>
              <a:rPr lang="en-US" sz="1900" dirty="0"/>
              <a:t>Each of these systems:</a:t>
            </a:r>
          </a:p>
          <a:p>
            <a:pPr>
              <a:buFont typeface="Arial" panose="020B0604020202020204" pitchFamily="34" charset="0"/>
              <a:buChar char="•"/>
            </a:pPr>
            <a:r>
              <a:rPr lang="en-US" sz="1900" dirty="0"/>
              <a:t>Has users</a:t>
            </a:r>
          </a:p>
          <a:p>
            <a:pPr>
              <a:buFont typeface="Arial" panose="020B0604020202020204" pitchFamily="34" charset="0"/>
              <a:buChar char="•"/>
            </a:pPr>
            <a:r>
              <a:rPr lang="en-US" sz="1900" dirty="0"/>
              <a:t>Has data</a:t>
            </a:r>
          </a:p>
          <a:p>
            <a:pPr>
              <a:buFont typeface="Arial" panose="020B0604020202020204" pitchFamily="34" charset="0"/>
              <a:buChar char="•"/>
            </a:pPr>
            <a:r>
              <a:rPr lang="en-US" sz="1900" dirty="0"/>
              <a:t>Has rules</a:t>
            </a:r>
          </a:p>
          <a:p>
            <a:pPr>
              <a:buFont typeface="Arial" panose="020B0604020202020204" pitchFamily="34" charset="0"/>
              <a:buChar char="•"/>
            </a:pPr>
            <a:r>
              <a:rPr lang="en-US" sz="1900" dirty="0"/>
              <a:t>Has workflows</a:t>
            </a:r>
          </a:p>
        </p:txBody>
      </p:sp>
    </p:spTree>
    <p:extLst>
      <p:ext uri="{BB962C8B-B14F-4D97-AF65-F5344CB8AC3E}">
        <p14:creationId xmlns:p14="http://schemas.microsoft.com/office/powerpoint/2010/main" val="2537908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5742A-AA56-EC9B-1CC9-56EAFBEDB9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B4D934-8EBF-A7DE-BA8D-9F4D754345FF}"/>
              </a:ext>
            </a:extLst>
          </p:cNvPr>
          <p:cNvSpPr>
            <a:spLocks noGrp="1"/>
          </p:cNvSpPr>
          <p:nvPr>
            <p:ph type="title"/>
          </p:nvPr>
        </p:nvSpPr>
        <p:spPr>
          <a:xfrm>
            <a:off x="838200" y="830346"/>
            <a:ext cx="10515600" cy="533233"/>
          </a:xfrm>
        </p:spPr>
        <p:txBody>
          <a:bodyPr>
            <a:normAutofit fontScale="90000"/>
          </a:bodyPr>
          <a:lstStyle/>
          <a:p>
            <a:r>
              <a:rPr lang="en-US" b="1" dirty="0"/>
              <a:t>Fundamentals – System Design</a:t>
            </a:r>
            <a:endParaRPr lang="en-IN" b="1" dirty="0"/>
          </a:p>
        </p:txBody>
      </p:sp>
      <p:sp>
        <p:nvSpPr>
          <p:cNvPr id="4" name="TextBox 3">
            <a:extLst>
              <a:ext uri="{FF2B5EF4-FFF2-40B4-BE49-F238E27FC236}">
                <a16:creationId xmlns:a16="http://schemas.microsoft.com/office/drawing/2014/main" id="{55C948E1-82DF-8BB0-83F7-CE5DF42E882D}"/>
              </a:ext>
            </a:extLst>
          </p:cNvPr>
          <p:cNvSpPr txBox="1"/>
          <p:nvPr/>
        </p:nvSpPr>
        <p:spPr>
          <a:xfrm>
            <a:off x="838200" y="1531839"/>
            <a:ext cx="6096000" cy="369332"/>
          </a:xfrm>
          <a:prstGeom prst="rect">
            <a:avLst/>
          </a:prstGeom>
          <a:noFill/>
        </p:spPr>
        <p:txBody>
          <a:bodyPr wrap="square">
            <a:spAutoFit/>
          </a:bodyPr>
          <a:lstStyle/>
          <a:p>
            <a:r>
              <a:rPr lang="en-IN" dirty="0"/>
              <a:t>What is System Design?</a:t>
            </a:r>
          </a:p>
        </p:txBody>
      </p:sp>
      <p:sp>
        <p:nvSpPr>
          <p:cNvPr id="8" name="TextBox 7">
            <a:extLst>
              <a:ext uri="{FF2B5EF4-FFF2-40B4-BE49-F238E27FC236}">
                <a16:creationId xmlns:a16="http://schemas.microsoft.com/office/drawing/2014/main" id="{0E18BEFA-6DA0-6FD8-D6DC-1A5E12A2BC01}"/>
              </a:ext>
            </a:extLst>
          </p:cNvPr>
          <p:cNvSpPr txBox="1"/>
          <p:nvPr/>
        </p:nvSpPr>
        <p:spPr>
          <a:xfrm>
            <a:off x="838200" y="2023264"/>
            <a:ext cx="10631905" cy="646331"/>
          </a:xfrm>
          <a:prstGeom prst="rect">
            <a:avLst/>
          </a:prstGeom>
          <a:noFill/>
        </p:spPr>
        <p:txBody>
          <a:bodyPr wrap="square">
            <a:spAutoFit/>
          </a:bodyPr>
          <a:lstStyle/>
          <a:p>
            <a:pPr>
              <a:buNone/>
            </a:pPr>
            <a:r>
              <a:rPr lang="en-US" b="1" dirty="0"/>
              <a:t>System Design is the process of defining the architecture, components, interfaces, data flow, and technologies of a software system to satisfy both functional and non-functional requirements.</a:t>
            </a:r>
            <a:endParaRPr lang="en-US" dirty="0"/>
          </a:p>
        </p:txBody>
      </p:sp>
      <p:sp>
        <p:nvSpPr>
          <p:cNvPr id="11" name="TextBox 10">
            <a:extLst>
              <a:ext uri="{FF2B5EF4-FFF2-40B4-BE49-F238E27FC236}">
                <a16:creationId xmlns:a16="http://schemas.microsoft.com/office/drawing/2014/main" id="{F2C769D2-8064-E1F7-263D-D542BE60A298}"/>
              </a:ext>
            </a:extLst>
          </p:cNvPr>
          <p:cNvSpPr txBox="1"/>
          <p:nvPr/>
        </p:nvSpPr>
        <p:spPr>
          <a:xfrm>
            <a:off x="838200" y="2959948"/>
            <a:ext cx="6096000" cy="369332"/>
          </a:xfrm>
          <a:prstGeom prst="rect">
            <a:avLst/>
          </a:prstGeom>
          <a:noFill/>
        </p:spPr>
        <p:txBody>
          <a:bodyPr wrap="square">
            <a:spAutoFit/>
          </a:bodyPr>
          <a:lstStyle/>
          <a:p>
            <a:r>
              <a:rPr lang="en-US" b="1" dirty="0"/>
              <a:t>Why Do We Need System Design? (E-Commerce Platform)</a:t>
            </a:r>
            <a:endParaRPr lang="en-IN" b="1" dirty="0"/>
          </a:p>
        </p:txBody>
      </p:sp>
      <p:sp>
        <p:nvSpPr>
          <p:cNvPr id="13" name="TextBox 12">
            <a:extLst>
              <a:ext uri="{FF2B5EF4-FFF2-40B4-BE49-F238E27FC236}">
                <a16:creationId xmlns:a16="http://schemas.microsoft.com/office/drawing/2014/main" id="{E1DAB27B-9A1E-633F-F1F1-19152D593F86}"/>
              </a:ext>
            </a:extLst>
          </p:cNvPr>
          <p:cNvSpPr txBox="1"/>
          <p:nvPr/>
        </p:nvSpPr>
        <p:spPr>
          <a:xfrm>
            <a:off x="838200" y="3429000"/>
            <a:ext cx="6096000" cy="1200329"/>
          </a:xfrm>
          <a:prstGeom prst="rect">
            <a:avLst/>
          </a:prstGeom>
          <a:noFill/>
        </p:spPr>
        <p:txBody>
          <a:bodyPr wrap="square">
            <a:spAutoFit/>
          </a:bodyPr>
          <a:lstStyle/>
          <a:p>
            <a:pPr>
              <a:buNone/>
            </a:pPr>
            <a:r>
              <a:rPr lang="en-US" dirty="0"/>
              <a:t>Imagine:</a:t>
            </a:r>
          </a:p>
          <a:p>
            <a:pPr>
              <a:buFont typeface="Arial" panose="020B0604020202020204" pitchFamily="34" charset="0"/>
              <a:buChar char="•"/>
            </a:pPr>
            <a:r>
              <a:rPr lang="en-US" dirty="0"/>
              <a:t>You directly start coding Amazon-like app</a:t>
            </a:r>
          </a:p>
          <a:p>
            <a:pPr>
              <a:buFont typeface="Arial" panose="020B0604020202020204" pitchFamily="34" charset="0"/>
              <a:buChar char="•"/>
            </a:pPr>
            <a:r>
              <a:rPr lang="en-US" dirty="0"/>
              <a:t>No planning</a:t>
            </a:r>
          </a:p>
          <a:p>
            <a:pPr>
              <a:buFont typeface="Arial" panose="020B0604020202020204" pitchFamily="34" charset="0"/>
              <a:buChar char="•"/>
            </a:pPr>
            <a:r>
              <a:rPr lang="en-US" dirty="0"/>
              <a:t>No architecture</a:t>
            </a:r>
          </a:p>
        </p:txBody>
      </p:sp>
      <p:sp>
        <p:nvSpPr>
          <p:cNvPr id="15" name="TextBox 14">
            <a:extLst>
              <a:ext uri="{FF2B5EF4-FFF2-40B4-BE49-F238E27FC236}">
                <a16:creationId xmlns:a16="http://schemas.microsoft.com/office/drawing/2014/main" id="{22A47821-530E-3FFF-3B23-28EE6A347840}"/>
              </a:ext>
            </a:extLst>
          </p:cNvPr>
          <p:cNvSpPr txBox="1"/>
          <p:nvPr/>
        </p:nvSpPr>
        <p:spPr>
          <a:xfrm>
            <a:off x="838200" y="4908157"/>
            <a:ext cx="6096000" cy="1477328"/>
          </a:xfrm>
          <a:prstGeom prst="rect">
            <a:avLst/>
          </a:prstGeom>
          <a:noFill/>
        </p:spPr>
        <p:txBody>
          <a:bodyPr wrap="square">
            <a:spAutoFit/>
          </a:bodyPr>
          <a:lstStyle/>
          <a:p>
            <a:pPr>
              <a:buNone/>
            </a:pPr>
            <a:r>
              <a:rPr lang="en-US" b="1" dirty="0"/>
              <a:t>Problems</a:t>
            </a:r>
            <a:r>
              <a:rPr lang="en-US" dirty="0"/>
              <a:t>:</a:t>
            </a:r>
          </a:p>
          <a:p>
            <a:pPr>
              <a:buFont typeface="Arial" panose="020B0604020202020204" pitchFamily="34" charset="0"/>
              <a:buChar char="•"/>
            </a:pPr>
            <a:r>
              <a:rPr lang="en-US" dirty="0"/>
              <a:t>System becomes slow</a:t>
            </a:r>
          </a:p>
          <a:p>
            <a:pPr>
              <a:buFont typeface="Arial" panose="020B0604020202020204" pitchFamily="34" charset="0"/>
              <a:buChar char="•"/>
            </a:pPr>
            <a:r>
              <a:rPr lang="en-US" dirty="0"/>
              <a:t>Code becomes unmanageable</a:t>
            </a:r>
          </a:p>
          <a:p>
            <a:pPr>
              <a:buFont typeface="Arial" panose="020B0604020202020204" pitchFamily="34" charset="0"/>
              <a:buChar char="•"/>
            </a:pPr>
            <a:r>
              <a:rPr lang="en-US" dirty="0"/>
              <a:t>Scaling becomes impossible</a:t>
            </a:r>
          </a:p>
          <a:p>
            <a:pPr>
              <a:buFont typeface="Arial" panose="020B0604020202020204" pitchFamily="34" charset="0"/>
              <a:buChar char="•"/>
            </a:pPr>
            <a:r>
              <a:rPr lang="en-US" dirty="0"/>
              <a:t>Frequent failures</a:t>
            </a:r>
          </a:p>
        </p:txBody>
      </p:sp>
      <p:sp>
        <p:nvSpPr>
          <p:cNvPr id="17" name="TextBox 16">
            <a:extLst>
              <a:ext uri="{FF2B5EF4-FFF2-40B4-BE49-F238E27FC236}">
                <a16:creationId xmlns:a16="http://schemas.microsoft.com/office/drawing/2014/main" id="{1A99B1A8-5DEE-03E3-8569-6F0AF53ECDBF}"/>
              </a:ext>
            </a:extLst>
          </p:cNvPr>
          <p:cNvSpPr txBox="1"/>
          <p:nvPr/>
        </p:nvSpPr>
        <p:spPr>
          <a:xfrm>
            <a:off x="6689558" y="3851886"/>
            <a:ext cx="6096000" cy="1754326"/>
          </a:xfrm>
          <a:prstGeom prst="rect">
            <a:avLst/>
          </a:prstGeom>
          <a:noFill/>
        </p:spPr>
        <p:txBody>
          <a:bodyPr wrap="square">
            <a:spAutoFit/>
          </a:bodyPr>
          <a:lstStyle/>
          <a:p>
            <a:pPr>
              <a:buNone/>
            </a:pPr>
            <a:r>
              <a:rPr lang="en-US" b="1" dirty="0"/>
              <a:t>With System Design</a:t>
            </a:r>
          </a:p>
          <a:p>
            <a:pPr>
              <a:buNone/>
            </a:pPr>
            <a:r>
              <a:rPr lang="en-US" dirty="0"/>
              <a:t>You decide in advance:</a:t>
            </a:r>
          </a:p>
          <a:p>
            <a:pPr>
              <a:buFont typeface="Arial" panose="020B0604020202020204" pitchFamily="34" charset="0"/>
              <a:buChar char="•"/>
            </a:pPr>
            <a:r>
              <a:rPr lang="en-US" dirty="0"/>
              <a:t>How users will login</a:t>
            </a:r>
          </a:p>
          <a:p>
            <a:pPr>
              <a:buFont typeface="Arial" panose="020B0604020202020204" pitchFamily="34" charset="0"/>
              <a:buChar char="•"/>
            </a:pPr>
            <a:r>
              <a:rPr lang="en-US" dirty="0"/>
              <a:t>How orders will be processed</a:t>
            </a:r>
          </a:p>
          <a:p>
            <a:pPr>
              <a:buFont typeface="Arial" panose="020B0604020202020204" pitchFamily="34" charset="0"/>
              <a:buChar char="•"/>
            </a:pPr>
            <a:r>
              <a:rPr lang="en-US" dirty="0"/>
              <a:t>How database will be structured</a:t>
            </a:r>
          </a:p>
          <a:p>
            <a:pPr>
              <a:buFont typeface="Arial" panose="020B0604020202020204" pitchFamily="34" charset="0"/>
              <a:buChar char="•"/>
            </a:pPr>
            <a:r>
              <a:rPr lang="en-US" dirty="0"/>
              <a:t>How system will handle millions of users</a:t>
            </a:r>
          </a:p>
        </p:txBody>
      </p:sp>
    </p:spTree>
    <p:extLst>
      <p:ext uri="{BB962C8B-B14F-4D97-AF65-F5344CB8AC3E}">
        <p14:creationId xmlns:p14="http://schemas.microsoft.com/office/powerpoint/2010/main" val="3836306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A7250-CF23-D5D1-1FA7-4FF70B0CDD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F08ADE-99B6-82AF-E1CF-BF8064B0E081}"/>
              </a:ext>
            </a:extLst>
          </p:cNvPr>
          <p:cNvSpPr>
            <a:spLocks noGrp="1"/>
          </p:cNvSpPr>
          <p:nvPr>
            <p:ph type="title"/>
          </p:nvPr>
        </p:nvSpPr>
        <p:spPr>
          <a:xfrm>
            <a:off x="838200" y="830346"/>
            <a:ext cx="10515600" cy="533233"/>
          </a:xfrm>
        </p:spPr>
        <p:txBody>
          <a:bodyPr>
            <a:normAutofit fontScale="90000"/>
          </a:bodyPr>
          <a:lstStyle/>
          <a:p>
            <a:r>
              <a:rPr lang="en-US" b="1" dirty="0"/>
              <a:t>Fundamentals – System Design</a:t>
            </a:r>
            <a:endParaRPr lang="en-IN" b="1" dirty="0"/>
          </a:p>
        </p:txBody>
      </p:sp>
      <p:sp>
        <p:nvSpPr>
          <p:cNvPr id="5" name="TextBox 4">
            <a:extLst>
              <a:ext uri="{FF2B5EF4-FFF2-40B4-BE49-F238E27FC236}">
                <a16:creationId xmlns:a16="http://schemas.microsoft.com/office/drawing/2014/main" id="{AE399B62-05BA-9502-92F2-70D610CBD38E}"/>
              </a:ext>
            </a:extLst>
          </p:cNvPr>
          <p:cNvSpPr txBox="1"/>
          <p:nvPr/>
        </p:nvSpPr>
        <p:spPr>
          <a:xfrm>
            <a:off x="838200" y="1727537"/>
            <a:ext cx="7523748" cy="2957861"/>
          </a:xfrm>
          <a:prstGeom prst="rect">
            <a:avLst/>
          </a:prstGeom>
          <a:noFill/>
        </p:spPr>
        <p:txBody>
          <a:bodyPr wrap="square">
            <a:spAutoFit/>
          </a:bodyPr>
          <a:lstStyle/>
          <a:p>
            <a:pPr>
              <a:buNone/>
            </a:pPr>
            <a:r>
              <a:rPr lang="en-US" b="1" dirty="0"/>
              <a:t>System Design Asks Questions Like</a:t>
            </a:r>
          </a:p>
          <a:p>
            <a:pPr>
              <a:buNone/>
            </a:pPr>
            <a:r>
              <a:rPr lang="en-US" dirty="0"/>
              <a:t>For </a:t>
            </a:r>
            <a:r>
              <a:rPr lang="en-US" b="1" dirty="0"/>
              <a:t>E-commerce App</a:t>
            </a:r>
            <a:r>
              <a:rPr lang="en-US" dirty="0"/>
              <a:t>:</a:t>
            </a:r>
          </a:p>
          <a:p>
            <a:pPr>
              <a:buNone/>
            </a:pPr>
            <a:endParaRPr lang="en-US" dirty="0"/>
          </a:p>
          <a:p>
            <a:pPr>
              <a:lnSpc>
                <a:spcPct val="150000"/>
              </a:lnSpc>
              <a:buFont typeface="Arial" panose="020B0604020202020204" pitchFamily="34" charset="0"/>
              <a:buChar char="•"/>
            </a:pPr>
            <a:r>
              <a:rPr lang="en-US" dirty="0"/>
              <a:t>How many backend servers do we need?</a:t>
            </a:r>
          </a:p>
          <a:p>
            <a:pPr>
              <a:lnSpc>
                <a:spcPct val="150000"/>
              </a:lnSpc>
              <a:buFont typeface="Arial" panose="020B0604020202020204" pitchFamily="34" charset="0"/>
              <a:buChar char="•"/>
            </a:pPr>
            <a:r>
              <a:rPr lang="en-US" dirty="0"/>
              <a:t>Should we use one database or multiple?</a:t>
            </a:r>
          </a:p>
          <a:p>
            <a:pPr>
              <a:lnSpc>
                <a:spcPct val="150000"/>
              </a:lnSpc>
              <a:buFont typeface="Arial" panose="020B0604020202020204" pitchFamily="34" charset="0"/>
              <a:buChar char="•"/>
            </a:pPr>
            <a:r>
              <a:rPr lang="en-US" dirty="0"/>
              <a:t>Where should authentication happen?</a:t>
            </a:r>
          </a:p>
          <a:p>
            <a:pPr>
              <a:lnSpc>
                <a:spcPct val="150000"/>
              </a:lnSpc>
              <a:buFont typeface="Arial" panose="020B0604020202020204" pitchFamily="34" charset="0"/>
              <a:buChar char="•"/>
            </a:pPr>
            <a:r>
              <a:rPr lang="en-US" dirty="0"/>
              <a:t>How fast should product search be?</a:t>
            </a:r>
          </a:p>
          <a:p>
            <a:pPr>
              <a:lnSpc>
                <a:spcPct val="150000"/>
              </a:lnSpc>
              <a:buFont typeface="Arial" panose="020B0604020202020204" pitchFamily="34" charset="0"/>
              <a:buChar char="•"/>
            </a:pPr>
            <a:r>
              <a:rPr lang="en-US" dirty="0"/>
              <a:t>How do we handle sale traffic (Big Billion Days)?</a:t>
            </a:r>
          </a:p>
        </p:txBody>
      </p:sp>
      <p:sp>
        <p:nvSpPr>
          <p:cNvPr id="7" name="TextBox 6">
            <a:extLst>
              <a:ext uri="{FF2B5EF4-FFF2-40B4-BE49-F238E27FC236}">
                <a16:creationId xmlns:a16="http://schemas.microsoft.com/office/drawing/2014/main" id="{89C15E80-DEDE-7957-4D52-7E8438CE9CAB}"/>
              </a:ext>
            </a:extLst>
          </p:cNvPr>
          <p:cNvSpPr txBox="1"/>
          <p:nvPr/>
        </p:nvSpPr>
        <p:spPr>
          <a:xfrm>
            <a:off x="8855243" y="2883300"/>
            <a:ext cx="2807368" cy="646331"/>
          </a:xfrm>
          <a:prstGeom prst="rect">
            <a:avLst/>
          </a:prstGeom>
          <a:noFill/>
        </p:spPr>
        <p:txBody>
          <a:bodyPr wrap="square">
            <a:spAutoFit/>
          </a:bodyPr>
          <a:lstStyle/>
          <a:p>
            <a:r>
              <a:rPr lang="en-US" dirty="0"/>
              <a:t>System Design is about </a:t>
            </a:r>
            <a:r>
              <a:rPr lang="en-US" b="1" dirty="0"/>
              <a:t>planning before building</a:t>
            </a:r>
            <a:endParaRPr lang="en-IN" dirty="0"/>
          </a:p>
        </p:txBody>
      </p:sp>
      <p:sp>
        <p:nvSpPr>
          <p:cNvPr id="9" name="Arrow: Right 8">
            <a:extLst>
              <a:ext uri="{FF2B5EF4-FFF2-40B4-BE49-F238E27FC236}">
                <a16:creationId xmlns:a16="http://schemas.microsoft.com/office/drawing/2014/main" id="{82E94F1C-B7E0-3DB8-056B-5E1671C8C5BD}"/>
              </a:ext>
            </a:extLst>
          </p:cNvPr>
          <p:cNvSpPr/>
          <p:nvPr/>
        </p:nvSpPr>
        <p:spPr>
          <a:xfrm>
            <a:off x="5646821" y="3038024"/>
            <a:ext cx="2715127" cy="3368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1458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07F03-6CAE-0BBF-2203-C0D74EC3EB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AA1818-40C7-2D89-C86B-8235593AFA6A}"/>
              </a:ext>
            </a:extLst>
          </p:cNvPr>
          <p:cNvSpPr>
            <a:spLocks noGrp="1"/>
          </p:cNvSpPr>
          <p:nvPr>
            <p:ph type="title"/>
          </p:nvPr>
        </p:nvSpPr>
        <p:spPr>
          <a:xfrm>
            <a:off x="838200" y="830346"/>
            <a:ext cx="10515600" cy="533233"/>
          </a:xfrm>
        </p:spPr>
        <p:txBody>
          <a:bodyPr>
            <a:normAutofit fontScale="90000"/>
          </a:bodyPr>
          <a:lstStyle/>
          <a:p>
            <a:r>
              <a:rPr lang="en-US" b="1" dirty="0"/>
              <a:t>Fundamentals – System Design</a:t>
            </a:r>
            <a:endParaRPr lang="en-IN" b="1" dirty="0"/>
          </a:p>
        </p:txBody>
      </p:sp>
      <p:sp>
        <p:nvSpPr>
          <p:cNvPr id="4" name="TextBox 3">
            <a:extLst>
              <a:ext uri="{FF2B5EF4-FFF2-40B4-BE49-F238E27FC236}">
                <a16:creationId xmlns:a16="http://schemas.microsoft.com/office/drawing/2014/main" id="{2728742D-1345-CD8A-5410-DD80866EEF0F}"/>
              </a:ext>
            </a:extLst>
          </p:cNvPr>
          <p:cNvSpPr txBox="1"/>
          <p:nvPr/>
        </p:nvSpPr>
        <p:spPr>
          <a:xfrm>
            <a:off x="838200" y="1825659"/>
            <a:ext cx="3862137" cy="3096360"/>
          </a:xfrm>
          <a:prstGeom prst="rect">
            <a:avLst/>
          </a:prstGeom>
          <a:noFill/>
        </p:spPr>
        <p:txBody>
          <a:bodyPr wrap="square">
            <a:spAutoFit/>
          </a:bodyPr>
          <a:lstStyle/>
          <a:p>
            <a:pPr>
              <a:buNone/>
            </a:pPr>
            <a:r>
              <a:rPr lang="en-US" b="1" dirty="0"/>
              <a:t>What Does System Design Include?</a:t>
            </a:r>
          </a:p>
          <a:p>
            <a:pPr>
              <a:buNone/>
            </a:pPr>
            <a:endParaRPr lang="en-US" b="1" dirty="0"/>
          </a:p>
          <a:p>
            <a:pPr>
              <a:lnSpc>
                <a:spcPct val="150000"/>
              </a:lnSpc>
              <a:buFont typeface="+mj-lt"/>
              <a:buAutoNum type="arabicPeriod"/>
            </a:pPr>
            <a:r>
              <a:rPr lang="en-US" dirty="0"/>
              <a:t>Architecture</a:t>
            </a:r>
          </a:p>
          <a:p>
            <a:pPr>
              <a:lnSpc>
                <a:spcPct val="150000"/>
              </a:lnSpc>
              <a:buFont typeface="+mj-lt"/>
              <a:buAutoNum type="arabicPeriod"/>
            </a:pPr>
            <a:r>
              <a:rPr lang="en-US" dirty="0"/>
              <a:t>Components</a:t>
            </a:r>
          </a:p>
          <a:p>
            <a:pPr>
              <a:lnSpc>
                <a:spcPct val="150000"/>
              </a:lnSpc>
              <a:buFont typeface="+mj-lt"/>
              <a:buAutoNum type="arabicPeriod"/>
            </a:pPr>
            <a:r>
              <a:rPr lang="en-US" dirty="0"/>
              <a:t>Data Flow</a:t>
            </a:r>
          </a:p>
          <a:p>
            <a:pPr>
              <a:lnSpc>
                <a:spcPct val="150000"/>
              </a:lnSpc>
              <a:buFont typeface="+mj-lt"/>
              <a:buAutoNum type="arabicPeriod"/>
            </a:pPr>
            <a:r>
              <a:rPr lang="en-US" dirty="0"/>
              <a:t>Communication</a:t>
            </a:r>
          </a:p>
          <a:p>
            <a:pPr>
              <a:lnSpc>
                <a:spcPct val="150000"/>
              </a:lnSpc>
              <a:buFont typeface="+mj-lt"/>
              <a:buAutoNum type="arabicPeriod"/>
            </a:pPr>
            <a:r>
              <a:rPr lang="en-US" dirty="0"/>
              <a:t>Scalability &amp; performance</a:t>
            </a:r>
          </a:p>
          <a:p>
            <a:pPr>
              <a:lnSpc>
                <a:spcPct val="150000"/>
              </a:lnSpc>
              <a:buFont typeface="+mj-lt"/>
              <a:buAutoNum type="arabicPeriod"/>
            </a:pPr>
            <a:r>
              <a:rPr lang="en-US" dirty="0"/>
              <a:t>Reliability &amp; security</a:t>
            </a:r>
          </a:p>
        </p:txBody>
      </p:sp>
      <p:graphicFrame>
        <p:nvGraphicFramePr>
          <p:cNvPr id="6" name="Table 5">
            <a:extLst>
              <a:ext uri="{FF2B5EF4-FFF2-40B4-BE49-F238E27FC236}">
                <a16:creationId xmlns:a16="http://schemas.microsoft.com/office/drawing/2014/main" id="{BA510329-AAF1-645B-EF5A-BF174E9D7D90}"/>
              </a:ext>
            </a:extLst>
          </p:cNvPr>
          <p:cNvGraphicFramePr>
            <a:graphicFrameLocks noGrp="1"/>
          </p:cNvGraphicFramePr>
          <p:nvPr>
            <p:extLst>
              <p:ext uri="{D42A27DB-BD31-4B8C-83A1-F6EECF244321}">
                <p14:modId xmlns:p14="http://schemas.microsoft.com/office/powerpoint/2010/main" val="1753252500"/>
              </p:ext>
            </p:extLst>
          </p:nvPr>
        </p:nvGraphicFramePr>
        <p:xfrm>
          <a:off x="5550568" y="2657071"/>
          <a:ext cx="6096000" cy="23977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95407587"/>
                    </a:ext>
                  </a:extLst>
                </a:gridCol>
                <a:gridCol w="2032000">
                  <a:extLst>
                    <a:ext uri="{9D8B030D-6E8A-4147-A177-3AD203B41FA5}">
                      <a16:colId xmlns:a16="http://schemas.microsoft.com/office/drawing/2014/main" val="4267787367"/>
                    </a:ext>
                  </a:extLst>
                </a:gridCol>
                <a:gridCol w="2032000">
                  <a:extLst>
                    <a:ext uri="{9D8B030D-6E8A-4147-A177-3AD203B41FA5}">
                      <a16:colId xmlns:a16="http://schemas.microsoft.com/office/drawing/2014/main" val="3799700975"/>
                    </a:ext>
                  </a:extLst>
                </a:gridCol>
              </a:tblGrid>
              <a:tr h="370840">
                <a:tc>
                  <a:txBody>
                    <a:bodyPr/>
                    <a:lstStyle/>
                    <a:p>
                      <a:r>
                        <a:rPr lang="en-US" dirty="0"/>
                        <a:t>Aspect</a:t>
                      </a:r>
                      <a:endParaRPr lang="en-IN" dirty="0"/>
                    </a:p>
                  </a:txBody>
                  <a:tcPr/>
                </a:tc>
                <a:tc>
                  <a:txBody>
                    <a:bodyPr/>
                    <a:lstStyle/>
                    <a:p>
                      <a:r>
                        <a:rPr lang="en-US" dirty="0"/>
                        <a:t>Coding</a:t>
                      </a:r>
                      <a:endParaRPr lang="en-IN" dirty="0"/>
                    </a:p>
                  </a:txBody>
                  <a:tcPr/>
                </a:tc>
                <a:tc>
                  <a:txBody>
                    <a:bodyPr/>
                    <a:lstStyle/>
                    <a:p>
                      <a:r>
                        <a:rPr lang="en-US" dirty="0"/>
                        <a:t>System Design</a:t>
                      </a:r>
                      <a:endParaRPr lang="en-IN" dirty="0"/>
                    </a:p>
                  </a:txBody>
                  <a:tcPr/>
                </a:tc>
                <a:extLst>
                  <a:ext uri="{0D108BD9-81ED-4DB2-BD59-A6C34878D82A}">
                    <a16:rowId xmlns:a16="http://schemas.microsoft.com/office/drawing/2014/main" val="934973067"/>
                  </a:ext>
                </a:extLst>
              </a:tr>
              <a:tr h="370840">
                <a:tc>
                  <a:txBody>
                    <a:bodyPr/>
                    <a:lstStyle/>
                    <a:p>
                      <a:r>
                        <a:rPr lang="en-US" dirty="0"/>
                        <a:t>Focus</a:t>
                      </a:r>
                      <a:endParaRPr lang="en-IN" dirty="0"/>
                    </a:p>
                  </a:txBody>
                  <a:tcPr/>
                </a:tc>
                <a:tc>
                  <a:txBody>
                    <a:bodyPr/>
                    <a:lstStyle/>
                    <a:p>
                      <a:r>
                        <a:rPr lang="en-US" dirty="0"/>
                        <a:t>Logic</a:t>
                      </a:r>
                      <a:endParaRPr lang="en-IN" dirty="0"/>
                    </a:p>
                  </a:txBody>
                  <a:tcPr/>
                </a:tc>
                <a:tc>
                  <a:txBody>
                    <a:bodyPr/>
                    <a:lstStyle/>
                    <a:p>
                      <a:r>
                        <a:rPr lang="en-US" dirty="0"/>
                        <a:t>Architecture</a:t>
                      </a:r>
                      <a:endParaRPr lang="en-IN" dirty="0"/>
                    </a:p>
                  </a:txBody>
                  <a:tcPr/>
                </a:tc>
                <a:extLst>
                  <a:ext uri="{0D108BD9-81ED-4DB2-BD59-A6C34878D82A}">
                    <a16:rowId xmlns:a16="http://schemas.microsoft.com/office/drawing/2014/main" val="3323036534"/>
                  </a:ext>
                </a:extLst>
              </a:tr>
              <a:tr h="370840">
                <a:tc>
                  <a:txBody>
                    <a:bodyPr/>
                    <a:lstStyle/>
                    <a:p>
                      <a:r>
                        <a:rPr lang="en-US" dirty="0"/>
                        <a:t>Scope</a:t>
                      </a:r>
                      <a:endParaRPr lang="en-IN" dirty="0"/>
                    </a:p>
                  </a:txBody>
                  <a:tcPr/>
                </a:tc>
                <a:tc>
                  <a:txBody>
                    <a:bodyPr/>
                    <a:lstStyle/>
                    <a:p>
                      <a:r>
                        <a:rPr lang="en-US" dirty="0"/>
                        <a:t>Small</a:t>
                      </a:r>
                      <a:endParaRPr lang="en-IN" dirty="0"/>
                    </a:p>
                  </a:txBody>
                  <a:tcPr/>
                </a:tc>
                <a:tc>
                  <a:txBody>
                    <a:bodyPr/>
                    <a:lstStyle/>
                    <a:p>
                      <a:r>
                        <a:rPr lang="en-US" dirty="0"/>
                        <a:t>Large</a:t>
                      </a:r>
                      <a:endParaRPr lang="en-IN" dirty="0"/>
                    </a:p>
                  </a:txBody>
                  <a:tcPr/>
                </a:tc>
                <a:extLst>
                  <a:ext uri="{0D108BD9-81ED-4DB2-BD59-A6C34878D82A}">
                    <a16:rowId xmlns:a16="http://schemas.microsoft.com/office/drawing/2014/main" val="3032531517"/>
                  </a:ext>
                </a:extLst>
              </a:tr>
              <a:tr h="370840">
                <a:tc>
                  <a:txBody>
                    <a:bodyPr/>
                    <a:lstStyle/>
                    <a:p>
                      <a:r>
                        <a:rPr lang="en-US" dirty="0"/>
                        <a:t>Scale</a:t>
                      </a:r>
                      <a:endParaRPr lang="en-IN" dirty="0"/>
                    </a:p>
                  </a:txBody>
                  <a:tcPr/>
                </a:tc>
                <a:tc>
                  <a:txBody>
                    <a:bodyPr/>
                    <a:lstStyle/>
                    <a:p>
                      <a:r>
                        <a:rPr lang="en-US" dirty="0"/>
                        <a:t>Single Module</a:t>
                      </a:r>
                      <a:endParaRPr lang="en-IN" dirty="0"/>
                    </a:p>
                  </a:txBody>
                  <a:tcPr/>
                </a:tc>
                <a:tc>
                  <a:txBody>
                    <a:bodyPr/>
                    <a:lstStyle/>
                    <a:p>
                      <a:r>
                        <a:rPr lang="en-US" dirty="0"/>
                        <a:t>Entire System</a:t>
                      </a:r>
                      <a:endParaRPr lang="en-IN" dirty="0"/>
                    </a:p>
                  </a:txBody>
                  <a:tcPr/>
                </a:tc>
                <a:extLst>
                  <a:ext uri="{0D108BD9-81ED-4DB2-BD59-A6C34878D82A}">
                    <a16:rowId xmlns:a16="http://schemas.microsoft.com/office/drawing/2014/main" val="1484017238"/>
                  </a:ext>
                </a:extLst>
              </a:tr>
              <a:tr h="370840">
                <a:tc>
                  <a:txBody>
                    <a:bodyPr/>
                    <a:lstStyle/>
                    <a:p>
                      <a:r>
                        <a:rPr lang="en-US" dirty="0"/>
                        <a:t>Concern</a:t>
                      </a:r>
                      <a:endParaRPr lang="en-IN" dirty="0"/>
                    </a:p>
                  </a:txBody>
                  <a:tcPr/>
                </a:tc>
                <a:tc>
                  <a:txBody>
                    <a:bodyPr/>
                    <a:lstStyle/>
                    <a:p>
                      <a:r>
                        <a:rPr lang="en-US" dirty="0"/>
                        <a:t>Correctness</a:t>
                      </a:r>
                      <a:endParaRPr lang="en-IN" dirty="0"/>
                    </a:p>
                  </a:txBody>
                  <a:tcPr/>
                </a:tc>
                <a:tc>
                  <a:txBody>
                    <a:bodyPr/>
                    <a:lstStyle/>
                    <a:p>
                      <a:r>
                        <a:rPr lang="en-US" dirty="0"/>
                        <a:t>Consistency, Availability &amp; Reliability</a:t>
                      </a:r>
                      <a:endParaRPr lang="en-IN" dirty="0"/>
                    </a:p>
                  </a:txBody>
                  <a:tcPr/>
                </a:tc>
                <a:extLst>
                  <a:ext uri="{0D108BD9-81ED-4DB2-BD59-A6C34878D82A}">
                    <a16:rowId xmlns:a16="http://schemas.microsoft.com/office/drawing/2014/main" val="340127342"/>
                  </a:ext>
                </a:extLst>
              </a:tr>
            </a:tbl>
          </a:graphicData>
        </a:graphic>
      </p:graphicFrame>
      <p:sp>
        <p:nvSpPr>
          <p:cNvPr id="10" name="TextBox 9">
            <a:extLst>
              <a:ext uri="{FF2B5EF4-FFF2-40B4-BE49-F238E27FC236}">
                <a16:creationId xmlns:a16="http://schemas.microsoft.com/office/drawing/2014/main" id="{920DBDA8-7054-431D-69E3-7CF401EC4369}"/>
              </a:ext>
            </a:extLst>
          </p:cNvPr>
          <p:cNvSpPr txBox="1"/>
          <p:nvPr/>
        </p:nvSpPr>
        <p:spPr>
          <a:xfrm>
            <a:off x="7363326" y="1825659"/>
            <a:ext cx="2951747" cy="369332"/>
          </a:xfrm>
          <a:prstGeom prst="rect">
            <a:avLst/>
          </a:prstGeom>
          <a:noFill/>
        </p:spPr>
        <p:txBody>
          <a:bodyPr wrap="square">
            <a:spAutoFit/>
          </a:bodyPr>
          <a:lstStyle/>
          <a:p>
            <a:r>
              <a:rPr lang="en-IN" b="1" dirty="0"/>
              <a:t>System Design vs Coding</a:t>
            </a:r>
          </a:p>
        </p:txBody>
      </p:sp>
    </p:spTree>
    <p:extLst>
      <p:ext uri="{BB962C8B-B14F-4D97-AF65-F5344CB8AC3E}">
        <p14:creationId xmlns:p14="http://schemas.microsoft.com/office/powerpoint/2010/main" val="42771452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89CC6-C451-42CD-159F-7F8AAC64A9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3C2050-C0C2-6E65-26FC-D5A6E3C3C187}"/>
              </a:ext>
            </a:extLst>
          </p:cNvPr>
          <p:cNvSpPr>
            <a:spLocks noGrp="1"/>
          </p:cNvSpPr>
          <p:nvPr>
            <p:ph type="title"/>
          </p:nvPr>
        </p:nvSpPr>
        <p:spPr>
          <a:xfrm>
            <a:off x="838200" y="830346"/>
            <a:ext cx="10515600" cy="533233"/>
          </a:xfrm>
        </p:spPr>
        <p:txBody>
          <a:bodyPr>
            <a:normAutofit fontScale="90000"/>
          </a:bodyPr>
          <a:lstStyle/>
          <a:p>
            <a:r>
              <a:rPr lang="en-US" b="1" dirty="0"/>
              <a:t>Fundamentals – System Design</a:t>
            </a:r>
            <a:endParaRPr lang="en-IN" b="1" dirty="0"/>
          </a:p>
        </p:txBody>
      </p:sp>
      <p:sp>
        <p:nvSpPr>
          <p:cNvPr id="3" name="Google Shape;113;p2">
            <a:extLst>
              <a:ext uri="{FF2B5EF4-FFF2-40B4-BE49-F238E27FC236}">
                <a16:creationId xmlns:a16="http://schemas.microsoft.com/office/drawing/2014/main" id="{D24B74F6-60DE-37BD-C134-708786BE65B6}"/>
              </a:ext>
            </a:extLst>
          </p:cNvPr>
          <p:cNvSpPr txBox="1"/>
          <p:nvPr/>
        </p:nvSpPr>
        <p:spPr>
          <a:xfrm>
            <a:off x="368968" y="1803960"/>
            <a:ext cx="10984832" cy="3250080"/>
          </a:xfrm>
          <a:prstGeom prst="rect">
            <a:avLst/>
          </a:prstGeom>
          <a:noFill/>
          <a:ln>
            <a:noFill/>
          </a:ln>
        </p:spPr>
        <p:txBody>
          <a:bodyPr spcFirstLastPara="1" wrap="square" lIns="91425" tIns="45700" rIns="91425" bIns="45700" anchor="t" anchorCtr="0">
            <a:spAutoFit/>
          </a:bodyPr>
          <a:lstStyle/>
          <a:p>
            <a:pPr algn="just"/>
            <a:r>
              <a:rPr lang="en-IN" dirty="0"/>
              <a:t>System Design is the process of planning and defining the </a:t>
            </a:r>
            <a:r>
              <a:rPr lang="en-IN" b="1" dirty="0"/>
              <a:t>architecture, components, data flow, and interactions</a:t>
            </a:r>
            <a:r>
              <a:rPr lang="en-IN" dirty="0"/>
              <a:t> of a software system so that it meets functional and non-functional requirements such as </a:t>
            </a:r>
            <a:r>
              <a:rPr lang="en-IN" b="1" dirty="0"/>
              <a:t>scalability, performance, and reliability</a:t>
            </a:r>
            <a:r>
              <a:rPr lang="en-IN" dirty="0"/>
              <a:t>. System design focuses on </a:t>
            </a:r>
            <a:r>
              <a:rPr lang="en-IN" b="1" dirty="0"/>
              <a:t>how the complete system works together</a:t>
            </a:r>
            <a:r>
              <a:rPr lang="en-IN" dirty="0"/>
              <a:t>, not just how individual code modules are written.</a:t>
            </a:r>
          </a:p>
          <a:p>
            <a:pPr algn="just"/>
            <a:br>
              <a:rPr lang="en-IN" dirty="0"/>
            </a:br>
            <a:endParaRPr lang="en-IN" dirty="0"/>
          </a:p>
          <a:p>
            <a:pPr algn="just" fontAlgn="base"/>
            <a:r>
              <a:rPr lang="en-IN" b="1" dirty="0"/>
              <a:t>Key Insight</a:t>
            </a:r>
            <a:r>
              <a:rPr lang="en-IN" dirty="0"/>
              <a:t>: System design is about architecting solutions for real-world challenges at scale, not just writing code.</a:t>
            </a:r>
          </a:p>
          <a:p>
            <a:pPr algn="just" fontAlgn="base"/>
            <a:br>
              <a:rPr lang="en-IN" b="1" dirty="0"/>
            </a:br>
            <a:r>
              <a:rPr lang="en-IN" b="1" dirty="0"/>
              <a:t>Example</a:t>
            </a:r>
            <a:r>
              <a:rPr lang="en-IN" dirty="0"/>
              <a:t>: Google Search distributes queries across thousands of servers, processes them in parallel, and returns results in milliseconds. This efficiency is a direct result of strong system design.</a:t>
            </a:r>
          </a:p>
          <a:p>
            <a:pPr lvl="0" algn="just">
              <a:lnSpc>
                <a:spcPct val="90000"/>
              </a:lnSpc>
            </a:pPr>
            <a:endParaRPr lang="en-US" sz="280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spTree>
    <p:extLst>
      <p:ext uri="{BB962C8B-B14F-4D97-AF65-F5344CB8AC3E}">
        <p14:creationId xmlns:p14="http://schemas.microsoft.com/office/powerpoint/2010/main" val="1956266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48391-8419-4AEF-E168-CBEA1DD806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7D7396-D4BD-BC32-E5BD-26BF3509AA46}"/>
              </a:ext>
            </a:extLst>
          </p:cNvPr>
          <p:cNvSpPr>
            <a:spLocks noGrp="1"/>
          </p:cNvSpPr>
          <p:nvPr>
            <p:ph type="title"/>
          </p:nvPr>
        </p:nvSpPr>
        <p:spPr>
          <a:xfrm>
            <a:off x="838200" y="830346"/>
            <a:ext cx="10515600" cy="533233"/>
          </a:xfrm>
        </p:spPr>
        <p:txBody>
          <a:bodyPr>
            <a:normAutofit fontScale="90000"/>
          </a:bodyPr>
          <a:lstStyle/>
          <a:p>
            <a:r>
              <a:rPr lang="en-US" b="1" dirty="0"/>
              <a:t>Purpose – System Design</a:t>
            </a:r>
            <a:endParaRPr lang="en-IN" b="1" dirty="0"/>
          </a:p>
        </p:txBody>
      </p:sp>
      <p:sp>
        <p:nvSpPr>
          <p:cNvPr id="4" name="Google Shape;113;p2">
            <a:extLst>
              <a:ext uri="{FF2B5EF4-FFF2-40B4-BE49-F238E27FC236}">
                <a16:creationId xmlns:a16="http://schemas.microsoft.com/office/drawing/2014/main" id="{66AC3176-1DC2-0F7F-2711-CE6EA03DE17A}"/>
              </a:ext>
            </a:extLst>
          </p:cNvPr>
          <p:cNvSpPr txBox="1"/>
          <p:nvPr/>
        </p:nvSpPr>
        <p:spPr>
          <a:xfrm>
            <a:off x="709863" y="1363579"/>
            <a:ext cx="11049000" cy="5078273"/>
          </a:xfrm>
          <a:prstGeom prst="rect">
            <a:avLst/>
          </a:prstGeom>
          <a:noFill/>
          <a:ln>
            <a:noFill/>
          </a:ln>
        </p:spPr>
        <p:txBody>
          <a:bodyPr spcFirstLastPara="1" wrap="square" lIns="91425" tIns="45700" rIns="91425" bIns="45700" anchor="t" anchorCtr="0">
            <a:spAutoFit/>
          </a:bodyPr>
          <a:lstStyle/>
          <a:p>
            <a:pPr fontAlgn="base"/>
            <a:endParaRPr lang="en-IN" b="1" dirty="0"/>
          </a:p>
          <a:p>
            <a:r>
              <a:rPr lang="en-IN" b="1" dirty="0"/>
              <a:t>Modern software systems must handle:</a:t>
            </a:r>
          </a:p>
          <a:p>
            <a:pPr marL="285750" indent="-285750">
              <a:buFont typeface="Arial" panose="020B0604020202020204" pitchFamily="34" charset="0"/>
              <a:buChar char="•"/>
            </a:pPr>
            <a:r>
              <a:rPr lang="en-IN" dirty="0"/>
              <a:t>Millions of users</a:t>
            </a:r>
          </a:p>
          <a:p>
            <a:pPr marL="285750" indent="-285750">
              <a:buFont typeface="Arial" panose="020B0604020202020204" pitchFamily="34" charset="0"/>
              <a:buChar char="•"/>
            </a:pPr>
            <a:r>
              <a:rPr lang="en-IN" dirty="0"/>
              <a:t>Large volumes of data</a:t>
            </a:r>
          </a:p>
          <a:p>
            <a:pPr marL="285750" indent="-285750">
              <a:buFont typeface="Arial" panose="020B0604020202020204" pitchFamily="34" charset="0"/>
              <a:buChar char="•"/>
            </a:pPr>
            <a:r>
              <a:rPr lang="en-IN" dirty="0"/>
              <a:t>Continuous availability (24×7 systems)</a:t>
            </a:r>
          </a:p>
          <a:p>
            <a:pPr marL="285750" indent="-285750">
              <a:buFont typeface="Arial" panose="020B0604020202020204" pitchFamily="34" charset="0"/>
              <a:buChar char="•"/>
            </a:pPr>
            <a:r>
              <a:rPr lang="en-IN" dirty="0"/>
              <a:t>Hardware and software failures</a:t>
            </a:r>
          </a:p>
          <a:p>
            <a:r>
              <a:rPr lang="en-IN" b="1" dirty="0"/>
              <a:t>Without proper system design:</a:t>
            </a:r>
          </a:p>
          <a:p>
            <a:pPr marL="285750" indent="-285750">
              <a:buFont typeface="Arial" panose="020B0604020202020204" pitchFamily="34" charset="0"/>
              <a:buChar char="•"/>
            </a:pPr>
            <a:r>
              <a:rPr lang="en-IN" dirty="0"/>
              <a:t>Applications become slow</a:t>
            </a:r>
          </a:p>
          <a:p>
            <a:pPr marL="285750" indent="-285750">
              <a:buFont typeface="Arial" panose="020B0604020202020204" pitchFamily="34" charset="0"/>
              <a:buChar char="•"/>
            </a:pPr>
            <a:r>
              <a:rPr lang="en-IN" dirty="0"/>
              <a:t>Systems crash under load</a:t>
            </a:r>
          </a:p>
          <a:p>
            <a:pPr marL="285750" indent="-285750">
              <a:buFont typeface="Arial" panose="020B0604020202020204" pitchFamily="34" charset="0"/>
              <a:buChar char="•"/>
            </a:pPr>
            <a:r>
              <a:rPr lang="en-IN" dirty="0"/>
              <a:t>Maintenance cost increases</a:t>
            </a:r>
          </a:p>
          <a:p>
            <a:pPr marL="285750" indent="-285750">
              <a:buFont typeface="Arial" panose="020B0604020202020204" pitchFamily="34" charset="0"/>
              <a:buChar char="•"/>
            </a:pPr>
            <a:endParaRPr lang="en-IN" dirty="0"/>
          </a:p>
          <a:p>
            <a:r>
              <a:rPr lang="en-IN" b="1" dirty="0"/>
              <a:t>Real-World Example:</a:t>
            </a:r>
            <a:br>
              <a:rPr lang="en-IN" dirty="0"/>
            </a:br>
            <a:r>
              <a:rPr lang="en-IN" dirty="0"/>
              <a:t>Applications like Google Search or Netflix work smoothly because their systems are designed to scale and handle failures gracefully.</a:t>
            </a:r>
          </a:p>
          <a:p>
            <a:pPr fontAlgn="base"/>
            <a:endParaRPr lang="en-IN" dirty="0"/>
          </a:p>
          <a:p>
            <a:pPr fontAlgn="base"/>
            <a:r>
              <a:rPr lang="en-IN" b="1" dirty="0"/>
              <a:t>Case Study on Facebook’s System Outages</a:t>
            </a:r>
          </a:p>
          <a:p>
            <a:pPr fontAlgn="base"/>
            <a:r>
              <a:rPr lang="en-IN" dirty="0"/>
              <a:t>Link  : </a:t>
            </a:r>
            <a:r>
              <a:rPr lang="en-IN" dirty="0">
                <a:hlinkClick r:id="rId2"/>
              </a:rPr>
              <a:t>https://techcrunch.com/2019/03/14/facebook-blames-a-misconfigured-server-for-yesterdays-outage/</a:t>
            </a:r>
            <a:endParaRPr lang="en-IN" dirty="0"/>
          </a:p>
          <a:p>
            <a:pPr fontAlgn="base"/>
            <a:endParaRPr lang="en-IN" dirty="0"/>
          </a:p>
        </p:txBody>
      </p:sp>
    </p:spTree>
    <p:extLst>
      <p:ext uri="{BB962C8B-B14F-4D97-AF65-F5344CB8AC3E}">
        <p14:creationId xmlns:p14="http://schemas.microsoft.com/office/powerpoint/2010/main" val="4032080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49B85-3562-A2D8-915A-33D07BA6EE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00450E-BDC0-D792-6644-1A45F25CB644}"/>
              </a:ext>
            </a:extLst>
          </p:cNvPr>
          <p:cNvSpPr>
            <a:spLocks noGrp="1"/>
          </p:cNvSpPr>
          <p:nvPr>
            <p:ph type="title"/>
          </p:nvPr>
        </p:nvSpPr>
        <p:spPr>
          <a:xfrm>
            <a:off x="838200" y="830346"/>
            <a:ext cx="10515600" cy="533233"/>
          </a:xfrm>
        </p:spPr>
        <p:txBody>
          <a:bodyPr>
            <a:normAutofit fontScale="90000"/>
          </a:bodyPr>
          <a:lstStyle/>
          <a:p>
            <a:r>
              <a:rPr lang="en-US" b="1" dirty="0"/>
              <a:t>Why – System Design ?</a:t>
            </a:r>
            <a:endParaRPr lang="en-IN" b="1" dirty="0"/>
          </a:p>
        </p:txBody>
      </p:sp>
      <p:sp>
        <p:nvSpPr>
          <p:cNvPr id="3" name="Google Shape;113;p2">
            <a:extLst>
              <a:ext uri="{FF2B5EF4-FFF2-40B4-BE49-F238E27FC236}">
                <a16:creationId xmlns:a16="http://schemas.microsoft.com/office/drawing/2014/main" id="{69FEE91D-0582-374A-1EFD-BCFBD9184E09}"/>
              </a:ext>
            </a:extLst>
          </p:cNvPr>
          <p:cNvSpPr txBox="1"/>
          <p:nvPr/>
        </p:nvSpPr>
        <p:spPr>
          <a:xfrm>
            <a:off x="1059122" y="1818950"/>
            <a:ext cx="9624920" cy="5324494"/>
          </a:xfrm>
          <a:prstGeom prst="rect">
            <a:avLst/>
          </a:prstGeom>
          <a:noFill/>
          <a:ln>
            <a:noFill/>
          </a:ln>
        </p:spPr>
        <p:txBody>
          <a:bodyPr spcFirstLastPara="1" wrap="square" lIns="91425" tIns="45700" rIns="91425" bIns="45700" anchor="t" anchorCtr="0">
            <a:spAutoFit/>
          </a:bodyPr>
          <a:lstStyle/>
          <a:p>
            <a:r>
              <a:rPr lang="en-IN" sz="2000" b="1" dirty="0"/>
              <a:t>Example: Online Examination System</a:t>
            </a:r>
          </a:p>
          <a:p>
            <a:endParaRPr lang="en-IN" sz="2000" dirty="0"/>
          </a:p>
          <a:p>
            <a:r>
              <a:rPr lang="en-IN" sz="2000" b="1" dirty="0"/>
              <a:t>During online exams:</a:t>
            </a:r>
          </a:p>
          <a:p>
            <a:pPr marL="285750" indent="-285750">
              <a:buFont typeface="Arial" panose="020B0604020202020204" pitchFamily="34" charset="0"/>
              <a:buChar char="•"/>
            </a:pPr>
            <a:r>
              <a:rPr lang="en-IN" sz="2000" dirty="0"/>
              <a:t>Thousands of students log in at the same time</a:t>
            </a:r>
          </a:p>
          <a:p>
            <a:pPr marL="285750" indent="-285750">
              <a:buFont typeface="Arial" panose="020B0604020202020204" pitchFamily="34" charset="0"/>
              <a:buChar char="•"/>
            </a:pPr>
            <a:r>
              <a:rPr lang="en-IN" sz="2000" dirty="0"/>
              <a:t>All students submit answers simultaneously</a:t>
            </a:r>
          </a:p>
          <a:p>
            <a:pPr marL="285750" indent="-285750">
              <a:buFont typeface="Arial" panose="020B0604020202020204" pitchFamily="34" charset="0"/>
              <a:buChar char="•"/>
            </a:pPr>
            <a:r>
              <a:rPr lang="en-IN" sz="2000" dirty="0"/>
              <a:t>Results must be stored safely</a:t>
            </a:r>
          </a:p>
          <a:p>
            <a:endParaRPr lang="en-IN" sz="2000" dirty="0"/>
          </a:p>
          <a:p>
            <a:r>
              <a:rPr lang="en-IN" sz="2000" b="1" dirty="0"/>
              <a:t>Without proper system design:</a:t>
            </a:r>
          </a:p>
          <a:p>
            <a:pPr marL="285750" indent="-285750">
              <a:buFont typeface="Arial" panose="020B0604020202020204" pitchFamily="34" charset="0"/>
              <a:buChar char="•"/>
            </a:pPr>
            <a:r>
              <a:rPr lang="en-IN" sz="2000" dirty="0"/>
              <a:t>Website may crash</a:t>
            </a:r>
          </a:p>
          <a:p>
            <a:pPr marL="285750" indent="-285750">
              <a:buFont typeface="Arial" panose="020B0604020202020204" pitchFamily="34" charset="0"/>
              <a:buChar char="•"/>
            </a:pPr>
            <a:r>
              <a:rPr lang="en-IN" sz="2000" dirty="0"/>
              <a:t>Answers may not be saved</a:t>
            </a:r>
          </a:p>
          <a:p>
            <a:pPr marL="285750" indent="-285750">
              <a:buFont typeface="Arial" panose="020B0604020202020204" pitchFamily="34" charset="0"/>
              <a:buChar char="•"/>
            </a:pPr>
            <a:r>
              <a:rPr lang="en-IN" sz="2000" dirty="0"/>
              <a:t>Students may lose attempts</a:t>
            </a:r>
          </a:p>
          <a:p>
            <a:endParaRPr lang="en-IN" sz="2000" b="1" dirty="0"/>
          </a:p>
          <a:p>
            <a:r>
              <a:rPr lang="en-IN" sz="2000" b="1" dirty="0"/>
              <a:t>This shows why system design is critical.</a:t>
            </a:r>
          </a:p>
          <a:p>
            <a:endParaRPr lang="en-IN" sz="2000" dirty="0"/>
          </a:p>
          <a:p>
            <a:br>
              <a:rPr lang="en-IN" sz="2000" dirty="0"/>
            </a:br>
            <a:endParaRPr lang="en-IN" sz="2000" dirty="0"/>
          </a:p>
          <a:p>
            <a:pPr fontAlgn="base"/>
            <a:endParaRPr lang="en-IN" sz="2000" dirty="0"/>
          </a:p>
        </p:txBody>
      </p:sp>
    </p:spTree>
    <p:extLst>
      <p:ext uri="{BB962C8B-B14F-4D97-AF65-F5344CB8AC3E}">
        <p14:creationId xmlns:p14="http://schemas.microsoft.com/office/powerpoint/2010/main" val="2042421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11ADE-1ED7-290C-2940-99F7EEEC1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74ED65-B9E4-6D6D-0730-DF5E48CB8F9C}"/>
              </a:ext>
            </a:extLst>
          </p:cNvPr>
          <p:cNvSpPr>
            <a:spLocks noGrp="1"/>
          </p:cNvSpPr>
          <p:nvPr>
            <p:ph type="title"/>
          </p:nvPr>
        </p:nvSpPr>
        <p:spPr>
          <a:xfrm>
            <a:off x="838200" y="830346"/>
            <a:ext cx="10515600" cy="533233"/>
          </a:xfrm>
        </p:spPr>
        <p:txBody>
          <a:bodyPr>
            <a:normAutofit fontScale="90000"/>
          </a:bodyPr>
          <a:lstStyle/>
          <a:p>
            <a:r>
              <a:rPr lang="en-US" b="1" dirty="0"/>
              <a:t>Core Components of a Software System</a:t>
            </a:r>
            <a:endParaRPr lang="en-IN" b="1" dirty="0"/>
          </a:p>
        </p:txBody>
      </p:sp>
      <p:pic>
        <p:nvPicPr>
          <p:cNvPr id="6" name="Picture 5">
            <a:extLst>
              <a:ext uri="{FF2B5EF4-FFF2-40B4-BE49-F238E27FC236}">
                <a16:creationId xmlns:a16="http://schemas.microsoft.com/office/drawing/2014/main" id="{F64779A1-0E25-7DD9-B991-735F1E29398A}"/>
              </a:ext>
            </a:extLst>
          </p:cNvPr>
          <p:cNvPicPr>
            <a:picLocks noChangeAspect="1"/>
          </p:cNvPicPr>
          <p:nvPr/>
        </p:nvPicPr>
        <p:blipFill>
          <a:blip r:embed="rId2"/>
          <a:stretch>
            <a:fillRect/>
          </a:stretch>
        </p:blipFill>
        <p:spPr>
          <a:xfrm>
            <a:off x="838200" y="1800803"/>
            <a:ext cx="8835188" cy="3701639"/>
          </a:xfrm>
          <a:prstGeom prst="rect">
            <a:avLst/>
          </a:prstGeom>
        </p:spPr>
      </p:pic>
    </p:spTree>
    <p:extLst>
      <p:ext uri="{BB962C8B-B14F-4D97-AF65-F5344CB8AC3E}">
        <p14:creationId xmlns:p14="http://schemas.microsoft.com/office/powerpoint/2010/main" val="12277011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49E7A-AB50-ECA1-3672-7B4CCF4EE7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B55CF4-2D75-904D-4AF0-FD1F98FC4810}"/>
              </a:ext>
            </a:extLst>
          </p:cNvPr>
          <p:cNvSpPr>
            <a:spLocks noGrp="1"/>
          </p:cNvSpPr>
          <p:nvPr>
            <p:ph type="title"/>
          </p:nvPr>
        </p:nvSpPr>
        <p:spPr>
          <a:xfrm>
            <a:off x="838200" y="830346"/>
            <a:ext cx="10515600" cy="533233"/>
          </a:xfrm>
        </p:spPr>
        <p:txBody>
          <a:bodyPr>
            <a:normAutofit fontScale="90000"/>
          </a:bodyPr>
          <a:lstStyle/>
          <a:p>
            <a:r>
              <a:rPr lang="en-US" b="1" dirty="0"/>
              <a:t>Requirements – Functional &amp; Non-Functional</a:t>
            </a:r>
            <a:endParaRPr lang="en-IN" b="1" dirty="0"/>
          </a:p>
        </p:txBody>
      </p:sp>
      <p:sp>
        <p:nvSpPr>
          <p:cNvPr id="7" name="TextBox 6">
            <a:extLst>
              <a:ext uri="{FF2B5EF4-FFF2-40B4-BE49-F238E27FC236}">
                <a16:creationId xmlns:a16="http://schemas.microsoft.com/office/drawing/2014/main" id="{182BDD3B-E2D4-A01C-4DE1-CF06BAAD5355}"/>
              </a:ext>
            </a:extLst>
          </p:cNvPr>
          <p:cNvSpPr txBox="1"/>
          <p:nvPr/>
        </p:nvSpPr>
        <p:spPr>
          <a:xfrm>
            <a:off x="838200" y="1413915"/>
            <a:ext cx="9753600" cy="369332"/>
          </a:xfrm>
          <a:prstGeom prst="rect">
            <a:avLst/>
          </a:prstGeom>
          <a:noFill/>
        </p:spPr>
        <p:txBody>
          <a:bodyPr wrap="square">
            <a:spAutoFit/>
          </a:bodyPr>
          <a:lstStyle/>
          <a:p>
            <a:r>
              <a:rPr lang="en-US" dirty="0"/>
              <a:t>Requirements describe what a system should do and how well it should perform.</a:t>
            </a:r>
            <a:endParaRPr lang="en-IN" dirty="0"/>
          </a:p>
        </p:txBody>
      </p:sp>
      <p:sp>
        <p:nvSpPr>
          <p:cNvPr id="9" name="TextBox 8">
            <a:extLst>
              <a:ext uri="{FF2B5EF4-FFF2-40B4-BE49-F238E27FC236}">
                <a16:creationId xmlns:a16="http://schemas.microsoft.com/office/drawing/2014/main" id="{51E234CA-113F-95E1-01F0-226BA26B01D9}"/>
              </a:ext>
            </a:extLst>
          </p:cNvPr>
          <p:cNvSpPr txBox="1"/>
          <p:nvPr/>
        </p:nvSpPr>
        <p:spPr>
          <a:xfrm>
            <a:off x="838200" y="1993081"/>
            <a:ext cx="4680284" cy="1477328"/>
          </a:xfrm>
          <a:prstGeom prst="rect">
            <a:avLst/>
          </a:prstGeom>
          <a:noFill/>
        </p:spPr>
        <p:txBody>
          <a:bodyPr wrap="square">
            <a:spAutoFit/>
          </a:bodyPr>
          <a:lstStyle/>
          <a:p>
            <a:pPr>
              <a:buNone/>
            </a:pPr>
            <a:r>
              <a:rPr lang="en-US" b="1" dirty="0"/>
              <a:t>In Simple Terms</a:t>
            </a:r>
          </a:p>
          <a:p>
            <a:pPr>
              <a:buNone/>
            </a:pPr>
            <a:r>
              <a:rPr lang="en-US" dirty="0"/>
              <a:t>Requirements answer two questions:</a:t>
            </a:r>
            <a:br>
              <a:rPr lang="en-US" dirty="0"/>
            </a:br>
            <a:endParaRPr lang="en-US" dirty="0"/>
          </a:p>
          <a:p>
            <a:pPr>
              <a:buFont typeface="+mj-lt"/>
              <a:buAutoNum type="arabicPeriod"/>
            </a:pPr>
            <a:r>
              <a:rPr lang="en-US" b="1" dirty="0"/>
              <a:t>What should the system do?</a:t>
            </a:r>
            <a:endParaRPr lang="en-US" dirty="0"/>
          </a:p>
          <a:p>
            <a:pPr>
              <a:buFont typeface="+mj-lt"/>
              <a:buAutoNum type="arabicPeriod"/>
            </a:pPr>
            <a:r>
              <a:rPr lang="en-US" b="1" dirty="0"/>
              <a:t>How should the system behave?</a:t>
            </a:r>
            <a:endParaRPr lang="en-US" dirty="0"/>
          </a:p>
        </p:txBody>
      </p:sp>
      <p:sp>
        <p:nvSpPr>
          <p:cNvPr id="11" name="TextBox 10">
            <a:extLst>
              <a:ext uri="{FF2B5EF4-FFF2-40B4-BE49-F238E27FC236}">
                <a16:creationId xmlns:a16="http://schemas.microsoft.com/office/drawing/2014/main" id="{3A1840A2-EB27-1C42-ABFC-B836E18908A4}"/>
              </a:ext>
            </a:extLst>
          </p:cNvPr>
          <p:cNvSpPr txBox="1"/>
          <p:nvPr/>
        </p:nvSpPr>
        <p:spPr>
          <a:xfrm>
            <a:off x="6096000" y="1993081"/>
            <a:ext cx="5053263" cy="1477328"/>
          </a:xfrm>
          <a:prstGeom prst="rect">
            <a:avLst/>
          </a:prstGeom>
          <a:noFill/>
        </p:spPr>
        <p:txBody>
          <a:bodyPr wrap="square">
            <a:spAutoFit/>
          </a:bodyPr>
          <a:lstStyle/>
          <a:p>
            <a:pPr>
              <a:buNone/>
            </a:pPr>
            <a:r>
              <a:rPr lang="en-US" b="1" dirty="0"/>
              <a:t>Example (E-commerce)</a:t>
            </a:r>
            <a:br>
              <a:rPr lang="en-US" b="1" dirty="0"/>
            </a:br>
            <a:endParaRPr lang="en-US" b="1" dirty="0"/>
          </a:p>
          <a:p>
            <a:pPr>
              <a:buFont typeface="Arial" panose="020B0604020202020204" pitchFamily="34" charset="0"/>
              <a:buChar char="•"/>
            </a:pPr>
            <a:r>
              <a:rPr lang="en-US" dirty="0"/>
              <a:t>User should be able to </a:t>
            </a:r>
            <a:r>
              <a:rPr lang="en-US" b="1" dirty="0"/>
              <a:t>search products</a:t>
            </a:r>
            <a:endParaRPr lang="en-US" dirty="0"/>
          </a:p>
          <a:p>
            <a:pPr>
              <a:buFont typeface="Arial" panose="020B0604020202020204" pitchFamily="34" charset="0"/>
              <a:buChar char="•"/>
            </a:pPr>
            <a:r>
              <a:rPr lang="en-US" dirty="0"/>
              <a:t>Order placement should be </a:t>
            </a:r>
            <a:r>
              <a:rPr lang="en-US" b="1" dirty="0"/>
              <a:t>fast</a:t>
            </a:r>
            <a:endParaRPr lang="en-US" dirty="0"/>
          </a:p>
          <a:p>
            <a:pPr>
              <a:buFont typeface="Arial" panose="020B0604020202020204" pitchFamily="34" charset="0"/>
              <a:buChar char="•"/>
            </a:pPr>
            <a:r>
              <a:rPr lang="en-US" dirty="0"/>
              <a:t>System should </a:t>
            </a:r>
            <a:r>
              <a:rPr lang="en-US" b="1" dirty="0"/>
              <a:t>not crash during sales</a:t>
            </a:r>
            <a:endParaRPr lang="en-US" dirty="0"/>
          </a:p>
        </p:txBody>
      </p:sp>
      <p:pic>
        <p:nvPicPr>
          <p:cNvPr id="13" name="Picture 12">
            <a:extLst>
              <a:ext uri="{FF2B5EF4-FFF2-40B4-BE49-F238E27FC236}">
                <a16:creationId xmlns:a16="http://schemas.microsoft.com/office/drawing/2014/main" id="{B1C6EF7D-29DD-38AE-3747-37B213BD8929}"/>
              </a:ext>
            </a:extLst>
          </p:cNvPr>
          <p:cNvPicPr>
            <a:picLocks noChangeAspect="1"/>
          </p:cNvPicPr>
          <p:nvPr/>
        </p:nvPicPr>
        <p:blipFill>
          <a:blip r:embed="rId2"/>
          <a:stretch>
            <a:fillRect/>
          </a:stretch>
        </p:blipFill>
        <p:spPr>
          <a:xfrm>
            <a:off x="1223210" y="3470409"/>
            <a:ext cx="9368590" cy="3287053"/>
          </a:xfrm>
          <a:prstGeom prst="rect">
            <a:avLst/>
          </a:prstGeom>
        </p:spPr>
      </p:pic>
    </p:spTree>
    <p:extLst>
      <p:ext uri="{BB962C8B-B14F-4D97-AF65-F5344CB8AC3E}">
        <p14:creationId xmlns:p14="http://schemas.microsoft.com/office/powerpoint/2010/main" val="22686894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F50A6-5FDF-4F8A-4595-33FBFFD64A8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0B8C89B-72B5-FBA0-88CD-3F70D7C55F24}"/>
              </a:ext>
            </a:extLst>
          </p:cNvPr>
          <p:cNvSpPr>
            <a:spLocks noGrp="1"/>
          </p:cNvSpPr>
          <p:nvPr>
            <p:ph type="title"/>
          </p:nvPr>
        </p:nvSpPr>
        <p:spPr>
          <a:xfrm>
            <a:off x="838200" y="830346"/>
            <a:ext cx="10515600" cy="533233"/>
          </a:xfrm>
        </p:spPr>
        <p:txBody>
          <a:bodyPr>
            <a:normAutofit fontScale="90000"/>
          </a:bodyPr>
          <a:lstStyle/>
          <a:p>
            <a:r>
              <a:rPr lang="en-US" b="1" dirty="0"/>
              <a:t>Requirements – Functional &amp; Non-Functional</a:t>
            </a:r>
            <a:endParaRPr lang="en-IN" b="1" dirty="0"/>
          </a:p>
        </p:txBody>
      </p:sp>
      <p:pic>
        <p:nvPicPr>
          <p:cNvPr id="11" name="Picture 10">
            <a:extLst>
              <a:ext uri="{FF2B5EF4-FFF2-40B4-BE49-F238E27FC236}">
                <a16:creationId xmlns:a16="http://schemas.microsoft.com/office/drawing/2014/main" id="{7AB32556-EFCB-F3E9-2CA7-68143329A40D}"/>
              </a:ext>
            </a:extLst>
          </p:cNvPr>
          <p:cNvPicPr>
            <a:picLocks noChangeAspect="1"/>
          </p:cNvPicPr>
          <p:nvPr/>
        </p:nvPicPr>
        <p:blipFill>
          <a:blip r:embed="rId2"/>
          <a:stretch>
            <a:fillRect/>
          </a:stretch>
        </p:blipFill>
        <p:spPr>
          <a:xfrm>
            <a:off x="838199" y="1601514"/>
            <a:ext cx="10038348" cy="4735118"/>
          </a:xfrm>
          <a:prstGeom prst="rect">
            <a:avLst/>
          </a:prstGeom>
        </p:spPr>
      </p:pic>
    </p:spTree>
    <p:extLst>
      <p:ext uri="{BB962C8B-B14F-4D97-AF65-F5344CB8AC3E}">
        <p14:creationId xmlns:p14="http://schemas.microsoft.com/office/powerpoint/2010/main" val="2813648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C725F-C84A-876E-7F59-89496BE7AC2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6048D3D-99DC-7C9B-5C63-1592C756B31A}"/>
              </a:ext>
            </a:extLst>
          </p:cNvPr>
          <p:cNvSpPr>
            <a:spLocks noGrp="1"/>
          </p:cNvSpPr>
          <p:nvPr>
            <p:ph type="title"/>
          </p:nvPr>
        </p:nvSpPr>
        <p:spPr>
          <a:xfrm>
            <a:off x="838200" y="830346"/>
            <a:ext cx="10515600" cy="533233"/>
          </a:xfrm>
        </p:spPr>
        <p:txBody>
          <a:bodyPr>
            <a:normAutofit fontScale="90000"/>
          </a:bodyPr>
          <a:lstStyle/>
          <a:p>
            <a:r>
              <a:rPr lang="en-US" b="1" dirty="0"/>
              <a:t>Requirements – Functional &amp; Non-Functional</a:t>
            </a:r>
            <a:endParaRPr lang="en-IN" b="1" dirty="0"/>
          </a:p>
        </p:txBody>
      </p:sp>
      <p:pic>
        <p:nvPicPr>
          <p:cNvPr id="6" name="Picture 5">
            <a:extLst>
              <a:ext uri="{FF2B5EF4-FFF2-40B4-BE49-F238E27FC236}">
                <a16:creationId xmlns:a16="http://schemas.microsoft.com/office/drawing/2014/main" id="{35B62869-D12B-4BF7-7370-843F6692B91E}"/>
              </a:ext>
            </a:extLst>
          </p:cNvPr>
          <p:cNvPicPr>
            <a:picLocks noChangeAspect="1"/>
          </p:cNvPicPr>
          <p:nvPr/>
        </p:nvPicPr>
        <p:blipFill>
          <a:blip r:embed="rId2"/>
          <a:stretch>
            <a:fillRect/>
          </a:stretch>
        </p:blipFill>
        <p:spPr>
          <a:xfrm>
            <a:off x="693821" y="1757171"/>
            <a:ext cx="10118558" cy="4270483"/>
          </a:xfrm>
          <a:prstGeom prst="rect">
            <a:avLst/>
          </a:prstGeom>
        </p:spPr>
      </p:pic>
    </p:spTree>
    <p:extLst>
      <p:ext uri="{BB962C8B-B14F-4D97-AF65-F5344CB8AC3E}">
        <p14:creationId xmlns:p14="http://schemas.microsoft.com/office/powerpoint/2010/main" val="967221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C3697-23AC-9009-3786-C7CE33CC7E5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31E4825-BFB9-4969-202C-AED7D77210F4}"/>
              </a:ext>
            </a:extLst>
          </p:cNvPr>
          <p:cNvPicPr>
            <a:picLocks noChangeAspect="1"/>
          </p:cNvPicPr>
          <p:nvPr/>
        </p:nvPicPr>
        <p:blipFill>
          <a:blip r:embed="rId2"/>
          <a:stretch>
            <a:fillRect/>
          </a:stretch>
        </p:blipFill>
        <p:spPr>
          <a:xfrm>
            <a:off x="723956" y="1607138"/>
            <a:ext cx="10515600" cy="4734586"/>
          </a:xfrm>
          <a:prstGeom prst="rect">
            <a:avLst/>
          </a:prstGeom>
        </p:spPr>
      </p:pic>
      <p:sp>
        <p:nvSpPr>
          <p:cNvPr id="8" name="Title 1">
            <a:extLst>
              <a:ext uri="{FF2B5EF4-FFF2-40B4-BE49-F238E27FC236}">
                <a16:creationId xmlns:a16="http://schemas.microsoft.com/office/drawing/2014/main" id="{EE2FFAED-1E59-0230-F576-2E45EC16D11D}"/>
              </a:ext>
            </a:extLst>
          </p:cNvPr>
          <p:cNvSpPr>
            <a:spLocks noGrp="1"/>
          </p:cNvSpPr>
          <p:nvPr>
            <p:ph type="title"/>
          </p:nvPr>
        </p:nvSpPr>
        <p:spPr>
          <a:xfrm>
            <a:off x="838200" y="830346"/>
            <a:ext cx="10515600" cy="533233"/>
          </a:xfrm>
        </p:spPr>
        <p:txBody>
          <a:bodyPr>
            <a:normAutofit fontScale="90000"/>
          </a:bodyPr>
          <a:lstStyle/>
          <a:p>
            <a:r>
              <a:rPr lang="en-US" b="1" dirty="0"/>
              <a:t>Functional &amp; Non-Functional - Ecommerce</a:t>
            </a:r>
            <a:endParaRPr lang="en-IN" b="1" dirty="0"/>
          </a:p>
        </p:txBody>
      </p:sp>
    </p:spTree>
    <p:extLst>
      <p:ext uri="{BB962C8B-B14F-4D97-AF65-F5344CB8AC3E}">
        <p14:creationId xmlns:p14="http://schemas.microsoft.com/office/powerpoint/2010/main" val="19443937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B0D36-2C0B-BED9-D0ED-C7A712503EEB}"/>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FED06F1E-4DBA-264C-BF9D-11430B604AFF}"/>
              </a:ext>
            </a:extLst>
          </p:cNvPr>
          <p:cNvSpPr>
            <a:spLocks noGrp="1"/>
          </p:cNvSpPr>
          <p:nvPr>
            <p:ph type="title"/>
          </p:nvPr>
        </p:nvSpPr>
        <p:spPr>
          <a:xfrm>
            <a:off x="838200" y="830346"/>
            <a:ext cx="10515600" cy="533233"/>
          </a:xfrm>
        </p:spPr>
        <p:txBody>
          <a:bodyPr>
            <a:normAutofit fontScale="90000"/>
          </a:bodyPr>
          <a:lstStyle/>
          <a:p>
            <a:r>
              <a:rPr lang="en-US" b="1" dirty="0"/>
              <a:t>Designing – HLD vs LLD</a:t>
            </a:r>
            <a:endParaRPr lang="en-IN" b="1" dirty="0"/>
          </a:p>
        </p:txBody>
      </p:sp>
      <p:sp>
        <p:nvSpPr>
          <p:cNvPr id="3" name="TextBox 2">
            <a:extLst>
              <a:ext uri="{FF2B5EF4-FFF2-40B4-BE49-F238E27FC236}">
                <a16:creationId xmlns:a16="http://schemas.microsoft.com/office/drawing/2014/main" id="{E6AA9E2A-22BC-9D74-56F6-BE2C04CB53C6}"/>
              </a:ext>
            </a:extLst>
          </p:cNvPr>
          <p:cNvSpPr txBox="1"/>
          <p:nvPr/>
        </p:nvSpPr>
        <p:spPr>
          <a:xfrm>
            <a:off x="838200" y="1591724"/>
            <a:ext cx="11000874" cy="646331"/>
          </a:xfrm>
          <a:prstGeom prst="rect">
            <a:avLst/>
          </a:prstGeom>
          <a:noFill/>
        </p:spPr>
        <p:txBody>
          <a:bodyPr wrap="square">
            <a:spAutoFit/>
          </a:bodyPr>
          <a:lstStyle/>
          <a:p>
            <a:r>
              <a:rPr lang="en-US" dirty="0"/>
              <a:t>Now that we clearly understand </a:t>
            </a:r>
            <a:r>
              <a:rPr lang="en-US" b="1" dirty="0"/>
              <a:t>what the system should do (FRs)</a:t>
            </a:r>
            <a:r>
              <a:rPr lang="en-US" dirty="0"/>
              <a:t> and </a:t>
            </a:r>
            <a:r>
              <a:rPr lang="en-US" b="1" dirty="0"/>
              <a:t>how well it should perform (NFRs)</a:t>
            </a:r>
            <a:r>
              <a:rPr lang="en-US" dirty="0"/>
              <a:t>, the next step is to </a:t>
            </a:r>
            <a:r>
              <a:rPr lang="en-US" b="1" dirty="0"/>
              <a:t>design the system</a:t>
            </a:r>
            <a:r>
              <a:rPr lang="en-US" dirty="0"/>
              <a:t>.</a:t>
            </a:r>
            <a:endParaRPr lang="en-IN" dirty="0"/>
          </a:p>
        </p:txBody>
      </p:sp>
      <p:sp>
        <p:nvSpPr>
          <p:cNvPr id="6" name="TextBox 5">
            <a:extLst>
              <a:ext uri="{FF2B5EF4-FFF2-40B4-BE49-F238E27FC236}">
                <a16:creationId xmlns:a16="http://schemas.microsoft.com/office/drawing/2014/main" id="{FFAE8F11-7F24-A90E-B0BD-EE9EC911AE82}"/>
              </a:ext>
            </a:extLst>
          </p:cNvPr>
          <p:cNvSpPr txBox="1"/>
          <p:nvPr/>
        </p:nvSpPr>
        <p:spPr>
          <a:xfrm>
            <a:off x="838200" y="2466200"/>
            <a:ext cx="6096000" cy="1200329"/>
          </a:xfrm>
          <a:prstGeom prst="rect">
            <a:avLst/>
          </a:prstGeom>
          <a:noFill/>
        </p:spPr>
        <p:txBody>
          <a:bodyPr wrap="square">
            <a:spAutoFit/>
          </a:bodyPr>
          <a:lstStyle/>
          <a:p>
            <a:pPr>
              <a:buNone/>
            </a:pPr>
            <a:r>
              <a:rPr lang="en-US" dirty="0"/>
              <a:t>Design happens in </a:t>
            </a:r>
            <a:r>
              <a:rPr lang="en-US" b="1" dirty="0"/>
              <a:t>two layers</a:t>
            </a:r>
            <a:r>
              <a:rPr lang="en-US" dirty="0"/>
              <a:t>:</a:t>
            </a:r>
            <a:br>
              <a:rPr lang="en-US" dirty="0"/>
            </a:br>
            <a:endParaRPr lang="en-US" dirty="0"/>
          </a:p>
          <a:p>
            <a:pPr>
              <a:buFont typeface="+mj-lt"/>
              <a:buAutoNum type="arabicPeriod"/>
            </a:pPr>
            <a:r>
              <a:rPr lang="en-US" b="1" dirty="0"/>
              <a:t>High-Level Design (HLD)</a:t>
            </a:r>
            <a:endParaRPr lang="en-US" dirty="0"/>
          </a:p>
          <a:p>
            <a:pPr>
              <a:buFont typeface="+mj-lt"/>
              <a:buAutoNum type="arabicPeriod"/>
            </a:pPr>
            <a:r>
              <a:rPr lang="en-US" b="1" dirty="0"/>
              <a:t>Low-Level Design (LLD)</a:t>
            </a:r>
            <a:endParaRPr lang="en-US" dirty="0"/>
          </a:p>
        </p:txBody>
      </p:sp>
    </p:spTree>
    <p:extLst>
      <p:ext uri="{BB962C8B-B14F-4D97-AF65-F5344CB8AC3E}">
        <p14:creationId xmlns:p14="http://schemas.microsoft.com/office/powerpoint/2010/main" val="11978734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EBE1D-5D8C-3D00-0D81-2005726E0C0D}"/>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4FE0CF90-B34B-50E7-9542-6117662684AD}"/>
              </a:ext>
            </a:extLst>
          </p:cNvPr>
          <p:cNvSpPr>
            <a:spLocks noGrp="1"/>
          </p:cNvSpPr>
          <p:nvPr>
            <p:ph type="title"/>
          </p:nvPr>
        </p:nvSpPr>
        <p:spPr>
          <a:xfrm>
            <a:off x="838200" y="830346"/>
            <a:ext cx="10515600" cy="533233"/>
          </a:xfrm>
        </p:spPr>
        <p:txBody>
          <a:bodyPr>
            <a:normAutofit fontScale="90000"/>
          </a:bodyPr>
          <a:lstStyle/>
          <a:p>
            <a:r>
              <a:rPr lang="en-US" b="1" dirty="0"/>
              <a:t>Designing – HLD vs LLD</a:t>
            </a:r>
            <a:endParaRPr lang="en-IN" b="1" dirty="0"/>
          </a:p>
        </p:txBody>
      </p:sp>
      <p:pic>
        <p:nvPicPr>
          <p:cNvPr id="4" name="Picture 3">
            <a:extLst>
              <a:ext uri="{FF2B5EF4-FFF2-40B4-BE49-F238E27FC236}">
                <a16:creationId xmlns:a16="http://schemas.microsoft.com/office/drawing/2014/main" id="{DC9AF731-3655-EB1C-2BD2-A47406013D32}"/>
              </a:ext>
            </a:extLst>
          </p:cNvPr>
          <p:cNvPicPr>
            <a:picLocks noChangeAspect="1"/>
          </p:cNvPicPr>
          <p:nvPr/>
        </p:nvPicPr>
        <p:blipFill>
          <a:blip r:embed="rId2"/>
          <a:stretch>
            <a:fillRect/>
          </a:stretch>
        </p:blipFill>
        <p:spPr>
          <a:xfrm>
            <a:off x="838200" y="1668379"/>
            <a:ext cx="9749589" cy="4572000"/>
          </a:xfrm>
          <a:prstGeom prst="rect">
            <a:avLst/>
          </a:prstGeom>
        </p:spPr>
      </p:pic>
    </p:spTree>
    <p:extLst>
      <p:ext uri="{BB962C8B-B14F-4D97-AF65-F5344CB8AC3E}">
        <p14:creationId xmlns:p14="http://schemas.microsoft.com/office/powerpoint/2010/main" val="1893937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F0099-09AE-0346-E7FD-8D7B910B857B}"/>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9824A073-31D0-566C-78DA-F23F6B4B7F97}"/>
              </a:ext>
            </a:extLst>
          </p:cNvPr>
          <p:cNvSpPr>
            <a:spLocks noGrp="1"/>
          </p:cNvSpPr>
          <p:nvPr>
            <p:ph type="title"/>
          </p:nvPr>
        </p:nvSpPr>
        <p:spPr>
          <a:xfrm>
            <a:off x="838200" y="830346"/>
            <a:ext cx="10515600" cy="533233"/>
          </a:xfrm>
        </p:spPr>
        <p:txBody>
          <a:bodyPr>
            <a:normAutofit fontScale="90000"/>
          </a:bodyPr>
          <a:lstStyle/>
          <a:p>
            <a:r>
              <a:rPr lang="en-US" b="1" dirty="0"/>
              <a:t>HLD – eCommerce Platform (Basic)</a:t>
            </a:r>
            <a:endParaRPr lang="en-IN" b="1" dirty="0"/>
          </a:p>
        </p:txBody>
      </p:sp>
      <p:pic>
        <p:nvPicPr>
          <p:cNvPr id="3" name="Picture 2">
            <a:extLst>
              <a:ext uri="{FF2B5EF4-FFF2-40B4-BE49-F238E27FC236}">
                <a16:creationId xmlns:a16="http://schemas.microsoft.com/office/drawing/2014/main" id="{C2B47B3C-92B6-E779-F543-5C6D7CC0018D}"/>
              </a:ext>
            </a:extLst>
          </p:cNvPr>
          <p:cNvPicPr>
            <a:picLocks noChangeAspect="1"/>
          </p:cNvPicPr>
          <p:nvPr/>
        </p:nvPicPr>
        <p:blipFill>
          <a:blip r:embed="rId2"/>
          <a:stretch>
            <a:fillRect/>
          </a:stretch>
        </p:blipFill>
        <p:spPr>
          <a:xfrm>
            <a:off x="1078832" y="1491917"/>
            <a:ext cx="8583223" cy="5053262"/>
          </a:xfrm>
          <a:prstGeom prst="rect">
            <a:avLst/>
          </a:prstGeom>
        </p:spPr>
      </p:pic>
    </p:spTree>
    <p:extLst>
      <p:ext uri="{BB962C8B-B14F-4D97-AF65-F5344CB8AC3E}">
        <p14:creationId xmlns:p14="http://schemas.microsoft.com/office/powerpoint/2010/main" val="38970613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CCC0B-A9FA-ABC9-56AE-E491A47FD2E3}"/>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82DAAD94-C27B-5FD2-E88A-50A6DA8C4035}"/>
              </a:ext>
            </a:extLst>
          </p:cNvPr>
          <p:cNvSpPr>
            <a:spLocks noGrp="1"/>
          </p:cNvSpPr>
          <p:nvPr>
            <p:ph type="title"/>
          </p:nvPr>
        </p:nvSpPr>
        <p:spPr>
          <a:xfrm>
            <a:off x="838200" y="830346"/>
            <a:ext cx="10515600" cy="533233"/>
          </a:xfrm>
        </p:spPr>
        <p:txBody>
          <a:bodyPr>
            <a:normAutofit fontScale="90000"/>
          </a:bodyPr>
          <a:lstStyle/>
          <a:p>
            <a:r>
              <a:rPr lang="en-US" b="1" dirty="0"/>
              <a:t>Diagrams we use to build LLD</a:t>
            </a:r>
            <a:endParaRPr lang="en-IN" b="1" dirty="0"/>
          </a:p>
        </p:txBody>
      </p:sp>
      <p:sp>
        <p:nvSpPr>
          <p:cNvPr id="4" name="TextBox 3">
            <a:extLst>
              <a:ext uri="{FF2B5EF4-FFF2-40B4-BE49-F238E27FC236}">
                <a16:creationId xmlns:a16="http://schemas.microsoft.com/office/drawing/2014/main" id="{194ADD92-4705-ED4F-4D78-F014F7078841}"/>
              </a:ext>
            </a:extLst>
          </p:cNvPr>
          <p:cNvSpPr txBox="1"/>
          <p:nvPr/>
        </p:nvSpPr>
        <p:spPr>
          <a:xfrm>
            <a:off x="838200" y="1603483"/>
            <a:ext cx="9893968" cy="3970318"/>
          </a:xfrm>
          <a:prstGeom prst="rect">
            <a:avLst/>
          </a:prstGeom>
          <a:noFill/>
        </p:spPr>
        <p:txBody>
          <a:bodyPr wrap="square">
            <a:spAutoFit/>
          </a:bodyPr>
          <a:lstStyle/>
          <a:p>
            <a:pPr>
              <a:buNone/>
            </a:pPr>
            <a:r>
              <a:rPr lang="en-US" b="1" dirty="0"/>
              <a:t>In High-Level Design, we focus on:</a:t>
            </a:r>
          </a:p>
          <a:p>
            <a:pPr>
              <a:buFont typeface="Arial" panose="020B0604020202020204" pitchFamily="34" charset="0"/>
              <a:buChar char="•"/>
            </a:pPr>
            <a:r>
              <a:rPr lang="en-US" dirty="0"/>
              <a:t>Actors (users)</a:t>
            </a:r>
          </a:p>
          <a:p>
            <a:pPr>
              <a:buFont typeface="Arial" panose="020B0604020202020204" pitchFamily="34" charset="0"/>
              <a:buChar char="•"/>
            </a:pPr>
            <a:r>
              <a:rPr lang="en-US" dirty="0"/>
              <a:t>System boundaries</a:t>
            </a:r>
          </a:p>
          <a:p>
            <a:pPr>
              <a:buFont typeface="Arial" panose="020B0604020202020204" pitchFamily="34" charset="0"/>
              <a:buChar char="•"/>
            </a:pPr>
            <a:r>
              <a:rPr lang="en-US" dirty="0"/>
              <a:t>High-level flow</a:t>
            </a:r>
          </a:p>
          <a:p>
            <a:pPr>
              <a:buFont typeface="Arial" panose="020B0604020202020204" pitchFamily="34" charset="0"/>
              <a:buChar char="•"/>
            </a:pPr>
            <a:r>
              <a:rPr lang="en-US" dirty="0"/>
              <a:t>Component interaction (not classes &amp; methods)</a:t>
            </a:r>
            <a:br>
              <a:rPr lang="en-US" dirty="0"/>
            </a:br>
            <a:br>
              <a:rPr lang="en-US" dirty="0"/>
            </a:br>
            <a:br>
              <a:rPr lang="en-US" dirty="0"/>
            </a:br>
            <a:r>
              <a:rPr lang="en-US" dirty="0"/>
              <a:t>Common Diagrams Used:</a:t>
            </a:r>
            <a:br>
              <a:rPr lang="en-US" dirty="0"/>
            </a:br>
            <a:r>
              <a:rPr lang="en-US" dirty="0"/>
              <a:t>1. Use case diagram – Shows system functionality</a:t>
            </a:r>
            <a:br>
              <a:rPr lang="en-US" dirty="0"/>
            </a:br>
            <a:r>
              <a:rPr lang="en-US" dirty="0"/>
              <a:t>2. Sequence diagram – Shows request floe</a:t>
            </a:r>
            <a:br>
              <a:rPr lang="en-US" dirty="0"/>
            </a:br>
            <a:r>
              <a:rPr lang="en-US" dirty="0"/>
              <a:t>3. Activity diagram – Shows workflow</a:t>
            </a:r>
            <a:br>
              <a:rPr lang="en-US" dirty="0"/>
            </a:br>
            <a:r>
              <a:rPr lang="en-US" dirty="0"/>
              <a:t>4. Component diagram – Shows system component interaction</a:t>
            </a:r>
            <a:br>
              <a:rPr lang="en-US" dirty="0"/>
            </a:br>
            <a:br>
              <a:rPr lang="en-US" dirty="0"/>
            </a:br>
            <a:r>
              <a:rPr lang="en-US" dirty="0"/>
              <a:t> </a:t>
            </a:r>
          </a:p>
        </p:txBody>
      </p:sp>
    </p:spTree>
    <p:extLst>
      <p:ext uri="{BB962C8B-B14F-4D97-AF65-F5344CB8AC3E}">
        <p14:creationId xmlns:p14="http://schemas.microsoft.com/office/powerpoint/2010/main" val="22239551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779DD-ACA6-DD07-A182-341C5F6A4285}"/>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6AFB776B-C986-1625-EECA-135AB8A5AB8B}"/>
              </a:ext>
            </a:extLst>
          </p:cNvPr>
          <p:cNvSpPr>
            <a:spLocks noGrp="1"/>
          </p:cNvSpPr>
          <p:nvPr>
            <p:ph type="title"/>
          </p:nvPr>
        </p:nvSpPr>
        <p:spPr>
          <a:xfrm>
            <a:off x="838200" y="830346"/>
            <a:ext cx="10515600" cy="533233"/>
          </a:xfrm>
        </p:spPr>
        <p:txBody>
          <a:bodyPr>
            <a:normAutofit fontScale="90000"/>
          </a:bodyPr>
          <a:lstStyle/>
          <a:p>
            <a:r>
              <a:rPr lang="en-US" b="1" dirty="0"/>
              <a:t>LLD – eCommerce Platform (Basic)</a:t>
            </a:r>
            <a:endParaRPr lang="en-IN" b="1" dirty="0"/>
          </a:p>
        </p:txBody>
      </p:sp>
      <p:pic>
        <p:nvPicPr>
          <p:cNvPr id="4" name="Picture 3">
            <a:extLst>
              <a:ext uri="{FF2B5EF4-FFF2-40B4-BE49-F238E27FC236}">
                <a16:creationId xmlns:a16="http://schemas.microsoft.com/office/drawing/2014/main" id="{6ECA4752-E0E6-B792-F39E-86F6552B54B9}"/>
              </a:ext>
            </a:extLst>
          </p:cNvPr>
          <p:cNvPicPr>
            <a:picLocks noChangeAspect="1"/>
          </p:cNvPicPr>
          <p:nvPr/>
        </p:nvPicPr>
        <p:blipFill>
          <a:blip r:embed="rId2"/>
          <a:stretch>
            <a:fillRect/>
          </a:stretch>
        </p:blipFill>
        <p:spPr>
          <a:xfrm>
            <a:off x="838199" y="1363578"/>
            <a:ext cx="10102537" cy="5133475"/>
          </a:xfrm>
          <a:prstGeom prst="rect">
            <a:avLst/>
          </a:prstGeom>
        </p:spPr>
      </p:pic>
    </p:spTree>
    <p:extLst>
      <p:ext uri="{BB962C8B-B14F-4D97-AF65-F5344CB8AC3E}">
        <p14:creationId xmlns:p14="http://schemas.microsoft.com/office/powerpoint/2010/main" val="42539068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65900-EFE9-C200-5A6F-8E7A49F2442D}"/>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ED7D5123-11B8-932E-2611-DAB99CB69BE0}"/>
              </a:ext>
            </a:extLst>
          </p:cNvPr>
          <p:cNvSpPr>
            <a:spLocks noGrp="1"/>
          </p:cNvSpPr>
          <p:nvPr>
            <p:ph type="title"/>
          </p:nvPr>
        </p:nvSpPr>
        <p:spPr>
          <a:xfrm>
            <a:off x="838200" y="830346"/>
            <a:ext cx="10515600" cy="533233"/>
          </a:xfrm>
        </p:spPr>
        <p:txBody>
          <a:bodyPr>
            <a:normAutofit fontScale="90000"/>
          </a:bodyPr>
          <a:lstStyle/>
          <a:p>
            <a:r>
              <a:rPr lang="en-US" b="1" dirty="0"/>
              <a:t>Diagrams we use to build LLD</a:t>
            </a:r>
            <a:endParaRPr lang="en-IN" b="1" dirty="0"/>
          </a:p>
        </p:txBody>
      </p:sp>
      <p:graphicFrame>
        <p:nvGraphicFramePr>
          <p:cNvPr id="7" name="Table 6">
            <a:extLst>
              <a:ext uri="{FF2B5EF4-FFF2-40B4-BE49-F238E27FC236}">
                <a16:creationId xmlns:a16="http://schemas.microsoft.com/office/drawing/2014/main" id="{AB05EDF9-41A7-C089-6574-FEAD53EB6124}"/>
              </a:ext>
            </a:extLst>
          </p:cNvPr>
          <p:cNvGraphicFramePr>
            <a:graphicFrameLocks noGrp="1"/>
          </p:cNvGraphicFramePr>
          <p:nvPr>
            <p:extLst>
              <p:ext uri="{D42A27DB-BD31-4B8C-83A1-F6EECF244321}">
                <p14:modId xmlns:p14="http://schemas.microsoft.com/office/powerpoint/2010/main" val="3225190885"/>
              </p:ext>
            </p:extLst>
          </p:nvPr>
        </p:nvGraphicFramePr>
        <p:xfrm>
          <a:off x="1004637" y="1821414"/>
          <a:ext cx="10182726" cy="3931920"/>
        </p:xfrm>
        <a:graphic>
          <a:graphicData uri="http://schemas.openxmlformats.org/drawingml/2006/table">
            <a:tbl>
              <a:tblPr/>
              <a:tblGrid>
                <a:gridCol w="5091363">
                  <a:extLst>
                    <a:ext uri="{9D8B030D-6E8A-4147-A177-3AD203B41FA5}">
                      <a16:colId xmlns:a16="http://schemas.microsoft.com/office/drawing/2014/main" val="1710031708"/>
                    </a:ext>
                  </a:extLst>
                </a:gridCol>
                <a:gridCol w="5091363">
                  <a:extLst>
                    <a:ext uri="{9D8B030D-6E8A-4147-A177-3AD203B41FA5}">
                      <a16:colId xmlns:a16="http://schemas.microsoft.com/office/drawing/2014/main" val="1076697619"/>
                    </a:ext>
                  </a:extLst>
                </a:gridCol>
              </a:tblGrid>
              <a:tr h="0">
                <a:tc>
                  <a:txBody>
                    <a:bodyPr/>
                    <a:lstStyle/>
                    <a:p>
                      <a:pPr>
                        <a:buNone/>
                      </a:pPr>
                      <a:r>
                        <a:rPr lang="en-IN" b="1"/>
                        <a:t>Diagram Name</a:t>
                      </a:r>
                      <a:endParaRPr lang="en-IN"/>
                    </a:p>
                  </a:txBody>
                  <a:tcPr anchor="ctr">
                    <a:lnL>
                      <a:noFill/>
                    </a:lnL>
                    <a:lnR>
                      <a:noFill/>
                    </a:lnR>
                    <a:lnT>
                      <a:noFill/>
                    </a:lnT>
                    <a:lnB>
                      <a:noFill/>
                    </a:lnB>
                    <a:noFill/>
                  </a:tcPr>
                </a:tc>
                <a:tc>
                  <a:txBody>
                    <a:bodyPr/>
                    <a:lstStyle/>
                    <a:p>
                      <a:pPr>
                        <a:buNone/>
                      </a:pPr>
                      <a:r>
                        <a:rPr lang="en-IN" b="1" dirty="0"/>
                        <a:t>Description</a:t>
                      </a:r>
                      <a:endParaRPr lang="en-IN" dirty="0"/>
                    </a:p>
                  </a:txBody>
                  <a:tcPr anchor="ctr">
                    <a:lnL>
                      <a:noFill/>
                    </a:lnL>
                    <a:lnR>
                      <a:noFill/>
                    </a:lnR>
                    <a:lnT>
                      <a:noFill/>
                    </a:lnT>
                    <a:lnB>
                      <a:noFill/>
                    </a:lnB>
                    <a:noFill/>
                  </a:tcPr>
                </a:tc>
                <a:extLst>
                  <a:ext uri="{0D108BD9-81ED-4DB2-BD59-A6C34878D82A}">
                    <a16:rowId xmlns:a16="http://schemas.microsoft.com/office/drawing/2014/main" val="2718523793"/>
                  </a:ext>
                </a:extLst>
              </a:tr>
              <a:tr h="0">
                <a:tc>
                  <a:txBody>
                    <a:bodyPr/>
                    <a:lstStyle/>
                    <a:p>
                      <a:pPr>
                        <a:buNone/>
                      </a:pPr>
                      <a:r>
                        <a:rPr lang="en-IN" b="1"/>
                        <a:t>Class Diagram</a:t>
                      </a:r>
                      <a:endParaRPr lang="en-IN"/>
                    </a:p>
                  </a:txBody>
                  <a:tcPr anchor="ctr">
                    <a:lnL>
                      <a:noFill/>
                    </a:lnL>
                    <a:lnR>
                      <a:noFill/>
                    </a:lnR>
                    <a:lnT>
                      <a:noFill/>
                    </a:lnT>
                    <a:lnB>
                      <a:noFill/>
                    </a:lnB>
                    <a:noFill/>
                  </a:tcPr>
                </a:tc>
                <a:tc>
                  <a:txBody>
                    <a:bodyPr/>
                    <a:lstStyle/>
                    <a:p>
                      <a:pPr>
                        <a:buNone/>
                      </a:pPr>
                      <a:r>
                        <a:rPr lang="en-US"/>
                        <a:t>Shows classes, their attributes, methods, and relationships; used as a blueprint for coding.</a:t>
                      </a:r>
                    </a:p>
                  </a:txBody>
                  <a:tcPr anchor="ctr">
                    <a:lnL>
                      <a:noFill/>
                    </a:lnL>
                    <a:lnR>
                      <a:noFill/>
                    </a:lnR>
                    <a:lnT>
                      <a:noFill/>
                    </a:lnT>
                    <a:lnB>
                      <a:noFill/>
                    </a:lnB>
                    <a:noFill/>
                  </a:tcPr>
                </a:tc>
                <a:extLst>
                  <a:ext uri="{0D108BD9-81ED-4DB2-BD59-A6C34878D82A}">
                    <a16:rowId xmlns:a16="http://schemas.microsoft.com/office/drawing/2014/main" val="3473038322"/>
                  </a:ext>
                </a:extLst>
              </a:tr>
              <a:tr h="0">
                <a:tc>
                  <a:txBody>
                    <a:bodyPr/>
                    <a:lstStyle/>
                    <a:p>
                      <a:pPr>
                        <a:buNone/>
                      </a:pPr>
                      <a:r>
                        <a:rPr lang="en-IN" b="1"/>
                        <a:t>Sequence Diagram</a:t>
                      </a:r>
                      <a:endParaRPr lang="en-IN"/>
                    </a:p>
                  </a:txBody>
                  <a:tcPr anchor="ctr">
                    <a:lnL>
                      <a:noFill/>
                    </a:lnL>
                    <a:lnR>
                      <a:noFill/>
                    </a:lnR>
                    <a:lnT>
                      <a:noFill/>
                    </a:lnT>
                    <a:lnB>
                      <a:noFill/>
                    </a:lnB>
                    <a:noFill/>
                  </a:tcPr>
                </a:tc>
                <a:tc>
                  <a:txBody>
                    <a:bodyPr/>
                    <a:lstStyle/>
                    <a:p>
                      <a:pPr>
                        <a:buNone/>
                      </a:pPr>
                      <a:r>
                        <a:rPr lang="en-US" dirty="0"/>
                        <a:t>Illustrates the order of interactions (method calls/messages) between objects over time.</a:t>
                      </a:r>
                    </a:p>
                  </a:txBody>
                  <a:tcPr anchor="ctr">
                    <a:lnL>
                      <a:noFill/>
                    </a:lnL>
                    <a:lnR>
                      <a:noFill/>
                    </a:lnR>
                    <a:lnT>
                      <a:noFill/>
                    </a:lnT>
                    <a:lnB>
                      <a:noFill/>
                    </a:lnB>
                    <a:noFill/>
                  </a:tcPr>
                </a:tc>
                <a:extLst>
                  <a:ext uri="{0D108BD9-81ED-4DB2-BD59-A6C34878D82A}">
                    <a16:rowId xmlns:a16="http://schemas.microsoft.com/office/drawing/2014/main" val="3991214684"/>
                  </a:ext>
                </a:extLst>
              </a:tr>
              <a:tr h="0">
                <a:tc>
                  <a:txBody>
                    <a:bodyPr/>
                    <a:lstStyle/>
                    <a:p>
                      <a:pPr>
                        <a:buNone/>
                      </a:pPr>
                      <a:r>
                        <a:rPr lang="en-IN" b="1"/>
                        <a:t>State Machine Diagram</a:t>
                      </a:r>
                      <a:endParaRPr lang="en-IN"/>
                    </a:p>
                  </a:txBody>
                  <a:tcPr anchor="ctr">
                    <a:lnL>
                      <a:noFill/>
                    </a:lnL>
                    <a:lnR>
                      <a:noFill/>
                    </a:lnR>
                    <a:lnT>
                      <a:noFill/>
                    </a:lnT>
                    <a:lnB>
                      <a:noFill/>
                    </a:lnB>
                    <a:noFill/>
                  </a:tcPr>
                </a:tc>
                <a:tc>
                  <a:txBody>
                    <a:bodyPr/>
                    <a:lstStyle/>
                    <a:p>
                      <a:pPr>
                        <a:buNone/>
                      </a:pPr>
                      <a:r>
                        <a:rPr lang="en-US" dirty="0"/>
                        <a:t>Represents different states of an object and transitions between them based on events.</a:t>
                      </a:r>
                    </a:p>
                  </a:txBody>
                  <a:tcPr anchor="ctr">
                    <a:lnL>
                      <a:noFill/>
                    </a:lnL>
                    <a:lnR>
                      <a:noFill/>
                    </a:lnR>
                    <a:lnT>
                      <a:noFill/>
                    </a:lnT>
                    <a:lnB>
                      <a:noFill/>
                    </a:lnB>
                    <a:noFill/>
                  </a:tcPr>
                </a:tc>
                <a:extLst>
                  <a:ext uri="{0D108BD9-81ED-4DB2-BD59-A6C34878D82A}">
                    <a16:rowId xmlns:a16="http://schemas.microsoft.com/office/drawing/2014/main" val="1998261776"/>
                  </a:ext>
                </a:extLst>
              </a:tr>
              <a:tr h="0">
                <a:tc>
                  <a:txBody>
                    <a:bodyPr/>
                    <a:lstStyle/>
                    <a:p>
                      <a:pPr>
                        <a:buNone/>
                      </a:pPr>
                      <a:r>
                        <a:rPr lang="en-IN" b="1"/>
                        <a:t>Activity Diagram</a:t>
                      </a:r>
                      <a:endParaRPr lang="en-IN"/>
                    </a:p>
                  </a:txBody>
                  <a:tcPr anchor="ctr">
                    <a:lnL>
                      <a:noFill/>
                    </a:lnL>
                    <a:lnR>
                      <a:noFill/>
                    </a:lnR>
                    <a:lnT>
                      <a:noFill/>
                    </a:lnT>
                    <a:lnB>
                      <a:noFill/>
                    </a:lnB>
                    <a:noFill/>
                  </a:tcPr>
                </a:tc>
                <a:tc>
                  <a:txBody>
                    <a:bodyPr/>
                    <a:lstStyle/>
                    <a:p>
                      <a:pPr>
                        <a:buNone/>
                      </a:pPr>
                      <a:r>
                        <a:rPr lang="en-US" dirty="0"/>
                        <a:t>Depicts the step-by-step workflow or business logic with decisions and parallel flows.</a:t>
                      </a:r>
                    </a:p>
                  </a:txBody>
                  <a:tcPr anchor="ctr">
                    <a:lnL>
                      <a:noFill/>
                    </a:lnL>
                    <a:lnR>
                      <a:noFill/>
                    </a:lnR>
                    <a:lnT>
                      <a:noFill/>
                    </a:lnT>
                    <a:lnB>
                      <a:noFill/>
                    </a:lnB>
                    <a:noFill/>
                  </a:tcPr>
                </a:tc>
                <a:extLst>
                  <a:ext uri="{0D108BD9-81ED-4DB2-BD59-A6C34878D82A}">
                    <a16:rowId xmlns:a16="http://schemas.microsoft.com/office/drawing/2014/main" val="2427881869"/>
                  </a:ext>
                </a:extLst>
              </a:tr>
              <a:tr h="0">
                <a:tc>
                  <a:txBody>
                    <a:bodyPr/>
                    <a:lstStyle/>
                    <a:p>
                      <a:pPr>
                        <a:buNone/>
                      </a:pPr>
                      <a:r>
                        <a:rPr lang="en-IN" b="1"/>
                        <a:t>Object Diagram</a:t>
                      </a:r>
                      <a:endParaRPr lang="en-IN"/>
                    </a:p>
                  </a:txBody>
                  <a:tcPr anchor="ctr">
                    <a:lnL>
                      <a:noFill/>
                    </a:lnL>
                    <a:lnR>
                      <a:noFill/>
                    </a:lnR>
                    <a:lnT>
                      <a:noFill/>
                    </a:lnT>
                    <a:lnB>
                      <a:noFill/>
                    </a:lnB>
                    <a:noFill/>
                  </a:tcPr>
                </a:tc>
                <a:tc>
                  <a:txBody>
                    <a:bodyPr/>
                    <a:lstStyle/>
                    <a:p>
                      <a:pPr>
                        <a:buNone/>
                      </a:pPr>
                      <a:r>
                        <a:rPr lang="en-US"/>
                        <a:t>Shows actual instances of classes and their relationships at a particular moment in runtime.</a:t>
                      </a:r>
                    </a:p>
                  </a:txBody>
                  <a:tcPr anchor="ctr">
                    <a:lnL>
                      <a:noFill/>
                    </a:lnL>
                    <a:lnR>
                      <a:noFill/>
                    </a:lnR>
                    <a:lnT>
                      <a:noFill/>
                    </a:lnT>
                    <a:lnB>
                      <a:noFill/>
                    </a:lnB>
                    <a:noFill/>
                  </a:tcPr>
                </a:tc>
                <a:extLst>
                  <a:ext uri="{0D108BD9-81ED-4DB2-BD59-A6C34878D82A}">
                    <a16:rowId xmlns:a16="http://schemas.microsoft.com/office/drawing/2014/main" val="232699005"/>
                  </a:ext>
                </a:extLst>
              </a:tr>
              <a:tr h="0">
                <a:tc>
                  <a:txBody>
                    <a:bodyPr/>
                    <a:lstStyle/>
                    <a:p>
                      <a:pPr>
                        <a:buNone/>
                      </a:pPr>
                      <a:endParaRPr lang="en-IN" dirty="0"/>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3027071529"/>
                  </a:ext>
                </a:extLst>
              </a:tr>
            </a:tbl>
          </a:graphicData>
        </a:graphic>
      </p:graphicFrame>
    </p:spTree>
    <p:extLst>
      <p:ext uri="{BB962C8B-B14F-4D97-AF65-F5344CB8AC3E}">
        <p14:creationId xmlns:p14="http://schemas.microsoft.com/office/powerpoint/2010/main" val="23138278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68FDC-6636-4DFD-7310-9E10F86D852C}"/>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5E5D18BD-CFF5-EE77-FEED-C0BF1BE8D307}"/>
              </a:ext>
            </a:extLst>
          </p:cNvPr>
          <p:cNvSpPr>
            <a:spLocks noGrp="1"/>
          </p:cNvSpPr>
          <p:nvPr>
            <p:ph type="title"/>
          </p:nvPr>
        </p:nvSpPr>
        <p:spPr>
          <a:xfrm>
            <a:off x="654393" y="987572"/>
            <a:ext cx="10515600" cy="533233"/>
          </a:xfrm>
        </p:spPr>
        <p:txBody>
          <a:bodyPr>
            <a:normAutofit fontScale="90000"/>
          </a:bodyPr>
          <a:lstStyle/>
          <a:p>
            <a:r>
              <a:rPr lang="en-US" b="1" dirty="0"/>
              <a:t>Key Performance Metrics in System Design</a:t>
            </a:r>
            <a:endParaRPr lang="en-IN" b="1" dirty="0"/>
          </a:p>
        </p:txBody>
      </p:sp>
      <p:sp>
        <p:nvSpPr>
          <p:cNvPr id="2" name="Google Shape;113;p2">
            <a:extLst>
              <a:ext uri="{FF2B5EF4-FFF2-40B4-BE49-F238E27FC236}">
                <a16:creationId xmlns:a16="http://schemas.microsoft.com/office/drawing/2014/main" id="{0BBB6152-D136-C7F3-01DC-1564F8CE79D8}"/>
              </a:ext>
            </a:extLst>
          </p:cNvPr>
          <p:cNvSpPr txBox="1"/>
          <p:nvPr/>
        </p:nvSpPr>
        <p:spPr>
          <a:xfrm>
            <a:off x="631996" y="2731147"/>
            <a:ext cx="10928007" cy="3139281"/>
          </a:xfrm>
          <a:prstGeom prst="rect">
            <a:avLst/>
          </a:prstGeom>
          <a:noFill/>
          <a:ln>
            <a:noFill/>
          </a:ln>
        </p:spPr>
        <p:txBody>
          <a:bodyPr spcFirstLastPara="1" wrap="square" lIns="91425" tIns="45700" rIns="91425" bIns="45700" anchor="t" anchorCtr="0">
            <a:spAutoFit/>
          </a:bodyPr>
          <a:lstStyle/>
          <a:p>
            <a:r>
              <a:rPr lang="en-IN" dirty="0"/>
              <a:t>Performance metrics help system designers evaluate how well a system behaves under real-world conditions.</a:t>
            </a:r>
            <a:br>
              <a:rPr lang="en-IN" dirty="0"/>
            </a:br>
            <a:endParaRPr lang="en-IN" dirty="0"/>
          </a:p>
          <a:p>
            <a:r>
              <a:rPr lang="en-IN" dirty="0"/>
              <a:t>These metrics are critical for designing </a:t>
            </a:r>
            <a:r>
              <a:rPr lang="en-IN" b="1" dirty="0"/>
              <a:t>scalable, reliable, and efficient systems</a:t>
            </a:r>
            <a:r>
              <a:rPr lang="en-IN" dirty="0"/>
              <a:t>.</a:t>
            </a:r>
          </a:p>
          <a:p>
            <a:endParaRPr lang="en-IN" dirty="0"/>
          </a:p>
          <a:p>
            <a:r>
              <a:rPr lang="en-IN" b="1" dirty="0"/>
              <a:t>Commonly used performance metrics include:</a:t>
            </a:r>
          </a:p>
          <a:p>
            <a:pPr marL="285750" indent="-285750">
              <a:buFont typeface="Arial" panose="020B0604020202020204" pitchFamily="34" charset="0"/>
              <a:buChar char="•"/>
            </a:pPr>
            <a:r>
              <a:rPr lang="en-IN" dirty="0"/>
              <a:t>Latency</a:t>
            </a:r>
          </a:p>
          <a:p>
            <a:pPr marL="285750" indent="-285750">
              <a:buFont typeface="Arial" panose="020B0604020202020204" pitchFamily="34" charset="0"/>
              <a:buChar char="•"/>
            </a:pPr>
            <a:r>
              <a:rPr lang="en-IN" dirty="0"/>
              <a:t>Throughput</a:t>
            </a:r>
          </a:p>
          <a:p>
            <a:pPr marL="285750" indent="-285750">
              <a:buFont typeface="Arial" panose="020B0604020202020204" pitchFamily="34" charset="0"/>
              <a:buChar char="•"/>
            </a:pPr>
            <a:r>
              <a:rPr lang="en-IN" dirty="0"/>
              <a:t>Queries Per Second (QPS)</a:t>
            </a:r>
          </a:p>
          <a:p>
            <a:pPr marL="285750" indent="-285750">
              <a:buFont typeface="Arial" panose="020B0604020202020204" pitchFamily="34" charset="0"/>
              <a:buChar char="•"/>
            </a:pPr>
            <a:r>
              <a:rPr lang="en-IN" dirty="0"/>
              <a:t>Availability</a:t>
            </a:r>
          </a:p>
          <a:p>
            <a:endParaRPr lang="en-IN" dirty="0"/>
          </a:p>
          <a:p>
            <a:endParaRPr lang="en-IN" dirty="0"/>
          </a:p>
        </p:txBody>
      </p:sp>
      <p:sp>
        <p:nvSpPr>
          <p:cNvPr id="4" name="TextBox 3">
            <a:extLst>
              <a:ext uri="{FF2B5EF4-FFF2-40B4-BE49-F238E27FC236}">
                <a16:creationId xmlns:a16="http://schemas.microsoft.com/office/drawing/2014/main" id="{46592176-FA98-CF44-7433-2214E7E943B8}"/>
              </a:ext>
            </a:extLst>
          </p:cNvPr>
          <p:cNvSpPr txBox="1"/>
          <p:nvPr/>
        </p:nvSpPr>
        <p:spPr>
          <a:xfrm>
            <a:off x="654393" y="1941310"/>
            <a:ext cx="10270281" cy="369332"/>
          </a:xfrm>
          <a:prstGeom prst="rect">
            <a:avLst/>
          </a:prstGeom>
          <a:noFill/>
        </p:spPr>
        <p:txBody>
          <a:bodyPr wrap="square">
            <a:spAutoFit/>
          </a:bodyPr>
          <a:lstStyle/>
          <a:p>
            <a:r>
              <a:rPr lang="en-US" b="1" dirty="0"/>
              <a:t>Even if a system is functionally correct, it is useless if it is slow, unavailable, or cannot handle traffic</a:t>
            </a:r>
            <a:endParaRPr lang="en-IN" b="1" dirty="0"/>
          </a:p>
        </p:txBody>
      </p:sp>
    </p:spTree>
    <p:extLst>
      <p:ext uri="{BB962C8B-B14F-4D97-AF65-F5344CB8AC3E}">
        <p14:creationId xmlns:p14="http://schemas.microsoft.com/office/powerpoint/2010/main" val="27719477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697D2-62CB-89C3-F072-E5B2D956020F}"/>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ADC2EC2C-5F56-EE62-3552-CE123E3202B6}"/>
              </a:ext>
            </a:extLst>
          </p:cNvPr>
          <p:cNvSpPr>
            <a:spLocks noGrp="1"/>
          </p:cNvSpPr>
          <p:nvPr>
            <p:ph type="title"/>
          </p:nvPr>
        </p:nvSpPr>
        <p:spPr>
          <a:xfrm>
            <a:off x="654393" y="987572"/>
            <a:ext cx="10515600" cy="533233"/>
          </a:xfrm>
        </p:spPr>
        <p:txBody>
          <a:bodyPr>
            <a:normAutofit fontScale="90000"/>
          </a:bodyPr>
          <a:lstStyle/>
          <a:p>
            <a:r>
              <a:rPr lang="en-US" b="1" dirty="0"/>
              <a:t>Key Performance Metrics in System Design</a:t>
            </a:r>
            <a:endParaRPr lang="en-IN" b="1" dirty="0"/>
          </a:p>
        </p:txBody>
      </p:sp>
      <p:sp>
        <p:nvSpPr>
          <p:cNvPr id="3" name="Google Shape;113;p2">
            <a:extLst>
              <a:ext uri="{FF2B5EF4-FFF2-40B4-BE49-F238E27FC236}">
                <a16:creationId xmlns:a16="http://schemas.microsoft.com/office/drawing/2014/main" id="{D0E69DA7-6DC7-F38C-3B91-37277EF0323B}"/>
              </a:ext>
            </a:extLst>
          </p:cNvPr>
          <p:cNvSpPr txBox="1"/>
          <p:nvPr/>
        </p:nvSpPr>
        <p:spPr>
          <a:xfrm>
            <a:off x="510014" y="1767027"/>
            <a:ext cx="9853186" cy="4524275"/>
          </a:xfrm>
          <a:prstGeom prst="rect">
            <a:avLst/>
          </a:prstGeom>
          <a:noFill/>
          <a:ln>
            <a:noFill/>
          </a:ln>
        </p:spPr>
        <p:txBody>
          <a:bodyPr spcFirstLastPara="1" wrap="square" lIns="91425" tIns="45700" rIns="91425" bIns="45700" anchor="t" anchorCtr="0">
            <a:spAutoFit/>
          </a:bodyPr>
          <a:lstStyle/>
          <a:p>
            <a:r>
              <a:rPr lang="en-IN" b="1" u="sng"/>
              <a:t>Latency</a:t>
            </a:r>
          </a:p>
          <a:p>
            <a:r>
              <a:rPr lang="en-IN" b="1"/>
              <a:t>Latency</a:t>
            </a:r>
            <a:r>
              <a:rPr lang="en-IN"/>
              <a:t> is the time taken for a system to respond to a request.</a:t>
            </a:r>
            <a:br>
              <a:rPr lang="en-IN"/>
            </a:br>
            <a:r>
              <a:rPr lang="en-IN" b="1"/>
              <a:t>Simple Terms</a:t>
            </a:r>
            <a:r>
              <a:rPr lang="en-IN"/>
              <a:t>: </a:t>
            </a:r>
            <a:r>
              <a:rPr lang="en-US"/>
              <a:t>How long does a user wait after clicking a button?</a:t>
            </a:r>
            <a:endParaRPr lang="en-IN"/>
          </a:p>
          <a:p>
            <a:endParaRPr lang="en-IN"/>
          </a:p>
          <a:p>
            <a:r>
              <a:rPr lang="en-IN" b="1"/>
              <a:t>It measures the delay between:</a:t>
            </a:r>
          </a:p>
          <a:p>
            <a:pPr marL="285750" indent="-285750">
              <a:buFont typeface="Arial" panose="020B0604020202020204" pitchFamily="34" charset="0"/>
              <a:buChar char="•"/>
            </a:pPr>
            <a:r>
              <a:rPr lang="en-IN"/>
              <a:t>A request sent by the user</a:t>
            </a:r>
          </a:p>
          <a:p>
            <a:pPr marL="285750" indent="-285750">
              <a:buFont typeface="Arial" panose="020B0604020202020204" pitchFamily="34" charset="0"/>
              <a:buChar char="•"/>
            </a:pPr>
            <a:r>
              <a:rPr lang="en-IN"/>
              <a:t>The response received from the system</a:t>
            </a:r>
          </a:p>
          <a:p>
            <a:r>
              <a:rPr lang="en-IN"/>
              <a:t>Latency is usually measured in </a:t>
            </a:r>
            <a:r>
              <a:rPr lang="en-IN" b="1"/>
              <a:t>milliseconds (ms)</a:t>
            </a:r>
            <a:r>
              <a:rPr lang="en-IN"/>
              <a:t>.</a:t>
            </a:r>
          </a:p>
          <a:p>
            <a:endParaRPr lang="en-IN"/>
          </a:p>
          <a:p>
            <a:r>
              <a:rPr lang="en-IN" b="1"/>
              <a:t>Examples:</a:t>
            </a:r>
          </a:p>
          <a:p>
            <a:pPr marL="285750" indent="-285750">
              <a:buFont typeface="Arial" panose="020B0604020202020204" pitchFamily="34" charset="0"/>
              <a:buChar char="•"/>
            </a:pPr>
            <a:r>
              <a:rPr lang="en-IN"/>
              <a:t>Time taken to load a web page</a:t>
            </a:r>
          </a:p>
          <a:p>
            <a:pPr marL="285750" indent="-285750">
              <a:buFont typeface="Arial" panose="020B0604020202020204" pitchFamily="34" charset="0"/>
              <a:buChar char="•"/>
            </a:pPr>
            <a:r>
              <a:rPr lang="en-IN"/>
              <a:t>Time for an API to return data</a:t>
            </a:r>
          </a:p>
          <a:p>
            <a:endParaRPr lang="en-IN"/>
          </a:p>
          <a:p>
            <a:r>
              <a:rPr lang="en-IN" b="1"/>
              <a:t>Low latency is important for:</a:t>
            </a:r>
          </a:p>
          <a:p>
            <a:pPr marL="285750" indent="-285750">
              <a:buFont typeface="Arial" panose="020B0604020202020204" pitchFamily="34" charset="0"/>
              <a:buChar char="•"/>
            </a:pPr>
            <a:r>
              <a:rPr lang="en-IN"/>
              <a:t>User experience</a:t>
            </a:r>
          </a:p>
          <a:p>
            <a:pPr marL="285750" indent="-285750">
              <a:buFont typeface="Arial" panose="020B0604020202020204" pitchFamily="34" charset="0"/>
              <a:buChar char="•"/>
            </a:pPr>
            <a:r>
              <a:rPr lang="en-IN"/>
              <a:t>Real-time systems (chat apps, online gaming, trading systems)</a:t>
            </a:r>
            <a:endParaRPr lang="en-IN" dirty="0"/>
          </a:p>
        </p:txBody>
      </p:sp>
      <p:sp>
        <p:nvSpPr>
          <p:cNvPr id="5" name="TextBox 4">
            <a:extLst>
              <a:ext uri="{FF2B5EF4-FFF2-40B4-BE49-F238E27FC236}">
                <a16:creationId xmlns:a16="http://schemas.microsoft.com/office/drawing/2014/main" id="{C0DC65C4-F8B3-64CD-2849-FD8FC1C2817D}"/>
              </a:ext>
            </a:extLst>
          </p:cNvPr>
          <p:cNvSpPr txBox="1"/>
          <p:nvPr/>
        </p:nvSpPr>
        <p:spPr>
          <a:xfrm>
            <a:off x="7796463" y="3196424"/>
            <a:ext cx="3554004" cy="1323439"/>
          </a:xfrm>
          <a:prstGeom prst="rect">
            <a:avLst/>
          </a:prstGeom>
          <a:noFill/>
        </p:spPr>
        <p:txBody>
          <a:bodyPr wrap="square">
            <a:spAutoFit/>
          </a:bodyPr>
          <a:lstStyle/>
          <a:p>
            <a:r>
              <a:rPr lang="en-US" sz="2000" b="1" dirty="0">
                <a:solidFill>
                  <a:srgbClr val="FF0000"/>
                </a:solidFill>
              </a:rPr>
              <a:t>Industry fact:</a:t>
            </a:r>
            <a:br>
              <a:rPr lang="en-US" sz="2000" dirty="0"/>
            </a:br>
            <a:r>
              <a:rPr lang="en-US" sz="2000" i="1" dirty="0"/>
              <a:t>Amazon observed that </a:t>
            </a:r>
            <a:r>
              <a:rPr lang="en-US" sz="2000" b="1" i="1" dirty="0"/>
              <a:t>100 </a:t>
            </a:r>
            <a:r>
              <a:rPr lang="en-US" sz="2000" b="1" i="1" dirty="0" err="1"/>
              <a:t>ms</a:t>
            </a:r>
            <a:r>
              <a:rPr lang="en-US" sz="2000" b="1" i="1" dirty="0"/>
              <a:t> increase in latency can reduce sales</a:t>
            </a:r>
            <a:r>
              <a:rPr lang="en-US" sz="2000" i="1" dirty="0"/>
              <a:t>.</a:t>
            </a:r>
            <a:endParaRPr lang="en-IN" sz="2000" i="1" dirty="0"/>
          </a:p>
        </p:txBody>
      </p:sp>
    </p:spTree>
    <p:extLst>
      <p:ext uri="{BB962C8B-B14F-4D97-AF65-F5344CB8AC3E}">
        <p14:creationId xmlns:p14="http://schemas.microsoft.com/office/powerpoint/2010/main" val="5170785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3BCD5-7530-B5BA-CAE7-6B6950C1FF3E}"/>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C0623CE3-95CE-E74A-3DC8-14A306BB7AA4}"/>
              </a:ext>
            </a:extLst>
          </p:cNvPr>
          <p:cNvSpPr>
            <a:spLocks noGrp="1"/>
          </p:cNvSpPr>
          <p:nvPr>
            <p:ph type="title"/>
          </p:nvPr>
        </p:nvSpPr>
        <p:spPr>
          <a:xfrm>
            <a:off x="654393" y="987572"/>
            <a:ext cx="10515600" cy="533233"/>
          </a:xfrm>
        </p:spPr>
        <p:txBody>
          <a:bodyPr>
            <a:normAutofit fontScale="90000"/>
          </a:bodyPr>
          <a:lstStyle/>
          <a:p>
            <a:r>
              <a:rPr lang="en-US" b="1" dirty="0"/>
              <a:t>Key Performance Metrics in System Design</a:t>
            </a:r>
            <a:endParaRPr lang="en-IN" b="1" dirty="0"/>
          </a:p>
        </p:txBody>
      </p:sp>
      <p:sp>
        <p:nvSpPr>
          <p:cNvPr id="2" name="Google Shape;113;p2">
            <a:extLst>
              <a:ext uri="{FF2B5EF4-FFF2-40B4-BE49-F238E27FC236}">
                <a16:creationId xmlns:a16="http://schemas.microsoft.com/office/drawing/2014/main" id="{D884BBE7-1FCB-4C6D-5A0A-2A43B718B0DF}"/>
              </a:ext>
            </a:extLst>
          </p:cNvPr>
          <p:cNvSpPr txBox="1"/>
          <p:nvPr/>
        </p:nvSpPr>
        <p:spPr>
          <a:xfrm>
            <a:off x="654394" y="2092571"/>
            <a:ext cx="5441606" cy="3416279"/>
          </a:xfrm>
          <a:prstGeom prst="rect">
            <a:avLst/>
          </a:prstGeom>
          <a:noFill/>
          <a:ln>
            <a:noFill/>
          </a:ln>
        </p:spPr>
        <p:txBody>
          <a:bodyPr spcFirstLastPara="1" wrap="square" lIns="91425" tIns="45700" rIns="91425" bIns="45700" anchor="t" anchorCtr="0">
            <a:spAutoFit/>
          </a:bodyPr>
          <a:lstStyle/>
          <a:p>
            <a:r>
              <a:rPr lang="en-IN" b="1" dirty="0"/>
              <a:t>Types of Latency</a:t>
            </a:r>
          </a:p>
          <a:p>
            <a:endParaRPr lang="en-IN" b="1" dirty="0"/>
          </a:p>
          <a:p>
            <a:r>
              <a:rPr lang="en-IN" dirty="0"/>
              <a:t>Latency can occur at different levels:</a:t>
            </a:r>
          </a:p>
          <a:p>
            <a:pPr marL="285750" indent="-285750">
              <a:buFont typeface="Arial" panose="020B0604020202020204" pitchFamily="34" charset="0"/>
              <a:buChar char="•"/>
            </a:pPr>
            <a:r>
              <a:rPr lang="en-IN" b="1" dirty="0"/>
              <a:t>Network latency</a:t>
            </a:r>
            <a:r>
              <a:rPr lang="en-IN" dirty="0"/>
              <a:t> – delay in data transmission over the network</a:t>
            </a:r>
          </a:p>
          <a:p>
            <a:endParaRPr lang="en-IN" dirty="0"/>
          </a:p>
          <a:p>
            <a:pPr marL="285750" indent="-285750">
              <a:buFont typeface="Arial" panose="020B0604020202020204" pitchFamily="34" charset="0"/>
              <a:buChar char="•"/>
            </a:pPr>
            <a:r>
              <a:rPr lang="en-IN" b="1" dirty="0"/>
              <a:t>Application latency</a:t>
            </a:r>
            <a:r>
              <a:rPr lang="en-IN" dirty="0"/>
              <a:t> – time taken by application logic</a:t>
            </a:r>
          </a:p>
          <a:p>
            <a:endParaRPr lang="en-IN" dirty="0"/>
          </a:p>
          <a:p>
            <a:pPr marL="285750" indent="-285750">
              <a:buFont typeface="Arial" panose="020B0604020202020204" pitchFamily="34" charset="0"/>
              <a:buChar char="•"/>
            </a:pPr>
            <a:r>
              <a:rPr lang="en-IN" b="1" dirty="0"/>
              <a:t>Database latency</a:t>
            </a:r>
            <a:r>
              <a:rPr lang="en-IN" dirty="0"/>
              <a:t> – time for database queries to execute</a:t>
            </a:r>
          </a:p>
          <a:p>
            <a:endParaRPr lang="en-IN" dirty="0"/>
          </a:p>
          <a:p>
            <a:r>
              <a:rPr lang="en-IN" dirty="0"/>
              <a:t>Total system latency is the </a:t>
            </a:r>
            <a:r>
              <a:rPr lang="en-IN" b="1" dirty="0"/>
              <a:t>sum of all these delays</a:t>
            </a:r>
            <a:r>
              <a:rPr lang="en-IN" dirty="0"/>
              <a:t>.</a:t>
            </a:r>
          </a:p>
        </p:txBody>
      </p:sp>
      <p:sp>
        <p:nvSpPr>
          <p:cNvPr id="6" name="TextBox 5">
            <a:extLst>
              <a:ext uri="{FF2B5EF4-FFF2-40B4-BE49-F238E27FC236}">
                <a16:creationId xmlns:a16="http://schemas.microsoft.com/office/drawing/2014/main" id="{47873614-472D-2707-B95E-6B92EFD961E5}"/>
              </a:ext>
            </a:extLst>
          </p:cNvPr>
          <p:cNvSpPr txBox="1"/>
          <p:nvPr/>
        </p:nvSpPr>
        <p:spPr>
          <a:xfrm>
            <a:off x="8009698" y="2228671"/>
            <a:ext cx="3160295" cy="2031325"/>
          </a:xfrm>
          <a:prstGeom prst="rect">
            <a:avLst/>
          </a:prstGeom>
          <a:noFill/>
        </p:spPr>
        <p:txBody>
          <a:bodyPr wrap="square">
            <a:spAutoFit/>
          </a:bodyPr>
          <a:lstStyle/>
          <a:p>
            <a:pPr>
              <a:buNone/>
            </a:pPr>
            <a:r>
              <a:rPr lang="en-US" b="1" dirty="0"/>
              <a:t>How Designers Reduce Latency</a:t>
            </a:r>
          </a:p>
          <a:p>
            <a:pPr>
              <a:buNone/>
            </a:pPr>
            <a:endParaRPr lang="en-US" b="1" dirty="0"/>
          </a:p>
          <a:p>
            <a:pPr>
              <a:buFont typeface="Arial" panose="020B0604020202020204" pitchFamily="34" charset="0"/>
              <a:buChar char="•"/>
            </a:pPr>
            <a:r>
              <a:rPr lang="en-US" dirty="0"/>
              <a:t>Caching product data</a:t>
            </a:r>
          </a:p>
          <a:p>
            <a:endParaRPr lang="en-US" dirty="0"/>
          </a:p>
          <a:p>
            <a:pPr>
              <a:buFont typeface="Arial" panose="020B0604020202020204" pitchFamily="34" charset="0"/>
              <a:buChar char="•"/>
            </a:pPr>
            <a:r>
              <a:rPr lang="en-US" dirty="0"/>
              <a:t>Using CDNs for images</a:t>
            </a:r>
          </a:p>
          <a:p>
            <a:endParaRPr lang="en-US" dirty="0"/>
          </a:p>
          <a:p>
            <a:pPr>
              <a:buFont typeface="Arial" panose="020B0604020202020204" pitchFamily="34" charset="0"/>
              <a:buChar char="•"/>
            </a:pPr>
            <a:r>
              <a:rPr lang="en-US" dirty="0"/>
              <a:t>Optimized database queries</a:t>
            </a:r>
          </a:p>
        </p:txBody>
      </p:sp>
    </p:spTree>
    <p:extLst>
      <p:ext uri="{BB962C8B-B14F-4D97-AF65-F5344CB8AC3E}">
        <p14:creationId xmlns:p14="http://schemas.microsoft.com/office/powerpoint/2010/main" val="2935226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717C8-5CD7-ECE9-BDF0-6652437CDAD9}"/>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28FC0BA9-BF08-01D6-7715-851C09E27330}"/>
              </a:ext>
            </a:extLst>
          </p:cNvPr>
          <p:cNvSpPr>
            <a:spLocks noGrp="1"/>
          </p:cNvSpPr>
          <p:nvPr>
            <p:ph type="title"/>
          </p:nvPr>
        </p:nvSpPr>
        <p:spPr>
          <a:xfrm>
            <a:off x="654393" y="987572"/>
            <a:ext cx="10515600" cy="533233"/>
          </a:xfrm>
        </p:spPr>
        <p:txBody>
          <a:bodyPr>
            <a:normAutofit fontScale="90000"/>
          </a:bodyPr>
          <a:lstStyle/>
          <a:p>
            <a:r>
              <a:rPr lang="en-US" b="1" dirty="0"/>
              <a:t>Key Performance Metrics in System Design</a:t>
            </a:r>
            <a:endParaRPr lang="en-IN" b="1" dirty="0"/>
          </a:p>
        </p:txBody>
      </p:sp>
      <p:sp>
        <p:nvSpPr>
          <p:cNvPr id="3" name="Google Shape;113;p2">
            <a:extLst>
              <a:ext uri="{FF2B5EF4-FFF2-40B4-BE49-F238E27FC236}">
                <a16:creationId xmlns:a16="http://schemas.microsoft.com/office/drawing/2014/main" id="{27147D79-B52D-ABD4-4762-F6E922FBD8C9}"/>
              </a:ext>
            </a:extLst>
          </p:cNvPr>
          <p:cNvSpPr txBox="1"/>
          <p:nvPr/>
        </p:nvSpPr>
        <p:spPr>
          <a:xfrm>
            <a:off x="654393" y="1659305"/>
            <a:ext cx="8275973" cy="4801274"/>
          </a:xfrm>
          <a:prstGeom prst="rect">
            <a:avLst/>
          </a:prstGeom>
          <a:noFill/>
          <a:ln>
            <a:noFill/>
          </a:ln>
        </p:spPr>
        <p:txBody>
          <a:bodyPr spcFirstLastPara="1" wrap="square" lIns="91425" tIns="45700" rIns="91425" bIns="45700" anchor="t" anchorCtr="0">
            <a:spAutoFit/>
          </a:bodyPr>
          <a:lstStyle/>
          <a:p>
            <a:r>
              <a:rPr lang="en-IN" b="1" u="sng" dirty="0"/>
              <a:t>Throughput</a:t>
            </a:r>
          </a:p>
          <a:p>
            <a:r>
              <a:rPr lang="en-IN" b="1" dirty="0"/>
              <a:t>Throughput</a:t>
            </a:r>
            <a:r>
              <a:rPr lang="en-IN" dirty="0"/>
              <a:t> refers to the number of requests a system can process in a given time.</a:t>
            </a:r>
          </a:p>
          <a:p>
            <a:endParaRPr lang="en-IN" dirty="0"/>
          </a:p>
          <a:p>
            <a:r>
              <a:rPr lang="en-IN" b="1" dirty="0"/>
              <a:t>It answers the question:</a:t>
            </a:r>
          </a:p>
          <a:p>
            <a:pPr marL="285750" indent="-285750">
              <a:buFont typeface="Arial" panose="020B0604020202020204" pitchFamily="34" charset="0"/>
              <a:buChar char="•"/>
            </a:pPr>
            <a:r>
              <a:rPr lang="en-IN" dirty="0"/>
              <a:t>How much work can the system handle?</a:t>
            </a:r>
          </a:p>
          <a:p>
            <a:endParaRPr lang="en-IN" dirty="0"/>
          </a:p>
          <a:p>
            <a:r>
              <a:rPr lang="en-IN" b="1" dirty="0"/>
              <a:t>Measured as:</a:t>
            </a:r>
          </a:p>
          <a:p>
            <a:pPr marL="285750" indent="-285750">
              <a:buFont typeface="Arial" panose="020B0604020202020204" pitchFamily="34" charset="0"/>
              <a:buChar char="•"/>
            </a:pPr>
            <a:r>
              <a:rPr lang="en-IN" dirty="0"/>
              <a:t>Requests per second</a:t>
            </a:r>
          </a:p>
          <a:p>
            <a:pPr marL="285750" indent="-285750">
              <a:buFont typeface="Arial" panose="020B0604020202020204" pitchFamily="34" charset="0"/>
              <a:buChar char="•"/>
            </a:pPr>
            <a:r>
              <a:rPr lang="en-IN" dirty="0"/>
              <a:t>Transactions per second</a:t>
            </a:r>
          </a:p>
          <a:p>
            <a:endParaRPr lang="en-IN" dirty="0"/>
          </a:p>
          <a:p>
            <a:r>
              <a:rPr lang="en-IN" b="1" dirty="0"/>
              <a:t>High throughput is required for:</a:t>
            </a:r>
          </a:p>
          <a:p>
            <a:pPr marL="285750" indent="-285750">
              <a:buFont typeface="Arial" panose="020B0604020202020204" pitchFamily="34" charset="0"/>
              <a:buChar char="•"/>
            </a:pPr>
            <a:r>
              <a:rPr lang="en-IN" dirty="0"/>
              <a:t>Large-scale systems</a:t>
            </a:r>
          </a:p>
          <a:p>
            <a:pPr marL="285750" indent="-285750">
              <a:buFont typeface="Arial" panose="020B0604020202020204" pitchFamily="34" charset="0"/>
              <a:buChar char="•"/>
            </a:pPr>
            <a:r>
              <a:rPr lang="en-IN" dirty="0"/>
              <a:t>Systems with many concurrent users</a:t>
            </a:r>
          </a:p>
          <a:p>
            <a:endParaRPr lang="en-IN" dirty="0"/>
          </a:p>
          <a:p>
            <a:r>
              <a:rPr lang="en-IN" b="1" dirty="0"/>
              <a:t>Example:</a:t>
            </a:r>
          </a:p>
          <a:p>
            <a:r>
              <a:rPr lang="en-IN" dirty="0"/>
              <a:t>A payment system processing 10,000 transactions per second</a:t>
            </a:r>
            <a:br>
              <a:rPr lang="en-IN" dirty="0"/>
            </a:br>
            <a:r>
              <a:rPr lang="en-IN" dirty="0"/>
              <a:t>Throughput: 10,000 transactions/sec</a:t>
            </a:r>
          </a:p>
        </p:txBody>
      </p:sp>
    </p:spTree>
    <p:extLst>
      <p:ext uri="{BB962C8B-B14F-4D97-AF65-F5344CB8AC3E}">
        <p14:creationId xmlns:p14="http://schemas.microsoft.com/office/powerpoint/2010/main" val="38520176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F60A5-D5F8-EC65-D352-3206E8F92F1E}"/>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339C8316-30CD-BCF5-BA3B-A673B70D0E37}"/>
              </a:ext>
            </a:extLst>
          </p:cNvPr>
          <p:cNvSpPr>
            <a:spLocks noGrp="1"/>
          </p:cNvSpPr>
          <p:nvPr>
            <p:ph type="title"/>
          </p:nvPr>
        </p:nvSpPr>
        <p:spPr>
          <a:xfrm>
            <a:off x="654393" y="987572"/>
            <a:ext cx="10515600" cy="533233"/>
          </a:xfrm>
        </p:spPr>
        <p:txBody>
          <a:bodyPr>
            <a:normAutofit fontScale="90000"/>
          </a:bodyPr>
          <a:lstStyle/>
          <a:p>
            <a:r>
              <a:rPr lang="en-US" b="1" dirty="0"/>
              <a:t>Key Performance Metrics in System Design</a:t>
            </a:r>
            <a:endParaRPr lang="en-IN" b="1" dirty="0"/>
          </a:p>
        </p:txBody>
      </p:sp>
      <p:sp>
        <p:nvSpPr>
          <p:cNvPr id="2" name="Google Shape;113;p2">
            <a:extLst>
              <a:ext uri="{FF2B5EF4-FFF2-40B4-BE49-F238E27FC236}">
                <a16:creationId xmlns:a16="http://schemas.microsoft.com/office/drawing/2014/main" id="{0588B794-BA51-CB83-ECD5-D24A71C85916}"/>
              </a:ext>
            </a:extLst>
          </p:cNvPr>
          <p:cNvSpPr txBox="1"/>
          <p:nvPr/>
        </p:nvSpPr>
        <p:spPr>
          <a:xfrm>
            <a:off x="654393" y="1801434"/>
            <a:ext cx="8275973" cy="3631723"/>
          </a:xfrm>
          <a:prstGeom prst="rect">
            <a:avLst/>
          </a:prstGeom>
          <a:noFill/>
          <a:ln>
            <a:noFill/>
          </a:ln>
        </p:spPr>
        <p:txBody>
          <a:bodyPr spcFirstLastPara="1" wrap="square" lIns="91425" tIns="45700" rIns="91425" bIns="45700" anchor="t" anchorCtr="0">
            <a:spAutoFit/>
          </a:bodyPr>
          <a:lstStyle/>
          <a:p>
            <a:r>
              <a:rPr lang="en-IN" sz="3200" b="1" u="sng" dirty="0"/>
              <a:t>Latency vs Throughput</a:t>
            </a:r>
          </a:p>
          <a:p>
            <a:endParaRPr lang="en-IN" b="1" dirty="0"/>
          </a:p>
          <a:p>
            <a:r>
              <a:rPr lang="en-IN" dirty="0"/>
              <a:t>Latency and throughput are related but different:</a:t>
            </a:r>
          </a:p>
          <a:p>
            <a:pPr marL="285750" indent="-285750">
              <a:buFont typeface="Arial" panose="020B0604020202020204" pitchFamily="34" charset="0"/>
              <a:buChar char="•"/>
            </a:pPr>
            <a:r>
              <a:rPr lang="en-IN" dirty="0"/>
              <a:t>Latency focuses on </a:t>
            </a:r>
            <a:r>
              <a:rPr lang="en-IN" b="1" dirty="0"/>
              <a:t>speed of response</a:t>
            </a:r>
            <a:endParaRPr lang="en-IN" dirty="0"/>
          </a:p>
          <a:p>
            <a:pPr marL="285750" indent="-285750">
              <a:buFont typeface="Arial" panose="020B0604020202020204" pitchFamily="34" charset="0"/>
              <a:buChar char="•"/>
            </a:pPr>
            <a:r>
              <a:rPr lang="en-IN" dirty="0"/>
              <a:t>Throughput focuses on </a:t>
            </a:r>
            <a:r>
              <a:rPr lang="en-IN" b="1" dirty="0"/>
              <a:t>capacity of the system</a:t>
            </a:r>
          </a:p>
          <a:p>
            <a:endParaRPr lang="en-IN" dirty="0"/>
          </a:p>
          <a:p>
            <a:r>
              <a:rPr lang="en-IN" dirty="0"/>
              <a:t>A system can have:</a:t>
            </a:r>
          </a:p>
          <a:p>
            <a:pPr marL="285750" indent="-285750">
              <a:buFont typeface="Arial" panose="020B0604020202020204" pitchFamily="34" charset="0"/>
              <a:buChar char="•"/>
            </a:pPr>
            <a:r>
              <a:rPr lang="en-IN" dirty="0"/>
              <a:t>Low latency but low throughput</a:t>
            </a:r>
          </a:p>
          <a:p>
            <a:pPr marL="285750" indent="-285750">
              <a:buFont typeface="Arial" panose="020B0604020202020204" pitchFamily="34" charset="0"/>
              <a:buChar char="•"/>
            </a:pPr>
            <a:r>
              <a:rPr lang="en-IN" dirty="0"/>
              <a:t>High throughput but higher latency</a:t>
            </a:r>
          </a:p>
          <a:p>
            <a:endParaRPr lang="en-IN" dirty="0"/>
          </a:p>
          <a:p>
            <a:r>
              <a:rPr lang="en-IN" dirty="0"/>
              <a:t>Good system design balances </a:t>
            </a:r>
            <a:r>
              <a:rPr lang="en-IN" b="1" dirty="0"/>
              <a:t>both metrics</a:t>
            </a:r>
            <a:r>
              <a:rPr lang="en-IN" dirty="0"/>
              <a:t> based on requirements.</a:t>
            </a:r>
          </a:p>
          <a:p>
            <a:endParaRPr lang="en-IN" dirty="0"/>
          </a:p>
        </p:txBody>
      </p:sp>
    </p:spTree>
    <p:extLst>
      <p:ext uri="{BB962C8B-B14F-4D97-AF65-F5344CB8AC3E}">
        <p14:creationId xmlns:p14="http://schemas.microsoft.com/office/powerpoint/2010/main" val="3776993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10F61-EC6D-782C-6E7C-91F47D5623A4}"/>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EF07B272-E754-724C-C317-713D2F9A0759}"/>
              </a:ext>
            </a:extLst>
          </p:cNvPr>
          <p:cNvSpPr>
            <a:spLocks noGrp="1"/>
          </p:cNvSpPr>
          <p:nvPr>
            <p:ph type="title"/>
          </p:nvPr>
        </p:nvSpPr>
        <p:spPr>
          <a:xfrm>
            <a:off x="654393" y="987572"/>
            <a:ext cx="10515600" cy="533233"/>
          </a:xfrm>
        </p:spPr>
        <p:txBody>
          <a:bodyPr>
            <a:normAutofit fontScale="90000"/>
          </a:bodyPr>
          <a:lstStyle/>
          <a:p>
            <a:r>
              <a:rPr lang="en-US" b="1" dirty="0"/>
              <a:t>Key Performance Metrics in System Design</a:t>
            </a:r>
            <a:endParaRPr lang="en-IN" b="1" dirty="0"/>
          </a:p>
        </p:txBody>
      </p:sp>
      <p:sp>
        <p:nvSpPr>
          <p:cNvPr id="3" name="Google Shape;113;p2">
            <a:extLst>
              <a:ext uri="{FF2B5EF4-FFF2-40B4-BE49-F238E27FC236}">
                <a16:creationId xmlns:a16="http://schemas.microsoft.com/office/drawing/2014/main" id="{A197DB25-3248-ED5D-4A04-84D2C011D532}"/>
              </a:ext>
            </a:extLst>
          </p:cNvPr>
          <p:cNvSpPr txBox="1"/>
          <p:nvPr/>
        </p:nvSpPr>
        <p:spPr>
          <a:xfrm>
            <a:off x="654393" y="1659305"/>
            <a:ext cx="8275973" cy="5078273"/>
          </a:xfrm>
          <a:prstGeom prst="rect">
            <a:avLst/>
          </a:prstGeom>
          <a:noFill/>
          <a:ln>
            <a:noFill/>
          </a:ln>
        </p:spPr>
        <p:txBody>
          <a:bodyPr spcFirstLastPara="1" wrap="square" lIns="91425" tIns="45700" rIns="91425" bIns="45700" anchor="t" anchorCtr="0">
            <a:spAutoFit/>
          </a:bodyPr>
          <a:lstStyle/>
          <a:p>
            <a:r>
              <a:rPr lang="en-IN" b="1" u="sng" dirty="0"/>
              <a:t>Queries Per Second (QPS)</a:t>
            </a:r>
          </a:p>
          <a:p>
            <a:endParaRPr lang="en-IN" b="1" u="sng" dirty="0"/>
          </a:p>
          <a:p>
            <a:r>
              <a:rPr lang="en-IN" b="1" dirty="0"/>
              <a:t>Queries Per Second (QPS)</a:t>
            </a:r>
            <a:r>
              <a:rPr lang="en-IN" dirty="0"/>
              <a:t> measures how many queries or requests a system can handle every second.</a:t>
            </a:r>
            <a:br>
              <a:rPr lang="en-IN" dirty="0"/>
            </a:br>
            <a:r>
              <a:rPr lang="en-IN" dirty="0"/>
              <a:t>Simple terms: </a:t>
            </a:r>
            <a:r>
              <a:rPr lang="en-US" dirty="0"/>
              <a:t>How many users are hitting the system at the same time?</a:t>
            </a:r>
            <a:endParaRPr lang="en-IN" dirty="0"/>
          </a:p>
          <a:p>
            <a:endParaRPr lang="en-IN" dirty="0"/>
          </a:p>
          <a:p>
            <a:r>
              <a:rPr lang="en-IN" b="1" dirty="0"/>
              <a:t>It is commonly used for:</a:t>
            </a:r>
          </a:p>
          <a:p>
            <a:pPr marL="285750" indent="-285750">
              <a:buFont typeface="Arial" panose="020B0604020202020204" pitchFamily="34" charset="0"/>
              <a:buChar char="•"/>
            </a:pPr>
            <a:r>
              <a:rPr lang="en-IN" dirty="0"/>
              <a:t>APIs</a:t>
            </a:r>
          </a:p>
          <a:p>
            <a:pPr marL="285750" indent="-285750">
              <a:buFont typeface="Arial" panose="020B0604020202020204" pitchFamily="34" charset="0"/>
              <a:buChar char="•"/>
            </a:pPr>
            <a:r>
              <a:rPr lang="en-IN" dirty="0"/>
              <a:t>Databases</a:t>
            </a:r>
          </a:p>
          <a:p>
            <a:pPr marL="285750" indent="-285750">
              <a:buFont typeface="Arial" panose="020B0604020202020204" pitchFamily="34" charset="0"/>
              <a:buChar char="•"/>
            </a:pPr>
            <a:r>
              <a:rPr lang="en-IN" dirty="0"/>
              <a:t>Search systems</a:t>
            </a:r>
          </a:p>
          <a:p>
            <a:endParaRPr lang="en-IN" dirty="0"/>
          </a:p>
          <a:p>
            <a:r>
              <a:rPr lang="en-IN" b="1" dirty="0"/>
              <a:t>QPS helps designers understand:</a:t>
            </a:r>
          </a:p>
          <a:p>
            <a:pPr marL="285750" indent="-285750">
              <a:buFont typeface="Arial" panose="020B0604020202020204" pitchFamily="34" charset="0"/>
              <a:buChar char="•"/>
            </a:pPr>
            <a:r>
              <a:rPr lang="en-IN" dirty="0"/>
              <a:t>Load handling capability</a:t>
            </a:r>
          </a:p>
          <a:p>
            <a:pPr marL="285750" indent="-285750">
              <a:buFont typeface="Arial" panose="020B0604020202020204" pitchFamily="34" charset="0"/>
              <a:buChar char="•"/>
            </a:pPr>
            <a:r>
              <a:rPr lang="en-IN" dirty="0"/>
              <a:t>Peak traffic limits</a:t>
            </a:r>
          </a:p>
          <a:p>
            <a:endParaRPr lang="en-IN" dirty="0"/>
          </a:p>
          <a:p>
            <a:r>
              <a:rPr lang="en-IN" b="1" dirty="0"/>
              <a:t>Example:</a:t>
            </a:r>
          </a:p>
          <a:p>
            <a:r>
              <a:rPr lang="en-IN" dirty="0"/>
              <a:t>A search engine handling 50,000 queries per second</a:t>
            </a:r>
          </a:p>
          <a:p>
            <a:endParaRPr lang="en-IN" dirty="0"/>
          </a:p>
        </p:txBody>
      </p:sp>
    </p:spTree>
    <p:extLst>
      <p:ext uri="{BB962C8B-B14F-4D97-AF65-F5344CB8AC3E}">
        <p14:creationId xmlns:p14="http://schemas.microsoft.com/office/powerpoint/2010/main" val="15247119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93643-42F0-EB93-4899-CBB41976A3FE}"/>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3D8C2A71-F3FA-8266-F7DC-E02A47360E6F}"/>
              </a:ext>
            </a:extLst>
          </p:cNvPr>
          <p:cNvSpPr>
            <a:spLocks noGrp="1"/>
          </p:cNvSpPr>
          <p:nvPr>
            <p:ph type="title"/>
          </p:nvPr>
        </p:nvSpPr>
        <p:spPr>
          <a:xfrm>
            <a:off x="654393" y="987572"/>
            <a:ext cx="10515600" cy="533233"/>
          </a:xfrm>
        </p:spPr>
        <p:txBody>
          <a:bodyPr>
            <a:normAutofit fontScale="90000"/>
          </a:bodyPr>
          <a:lstStyle/>
          <a:p>
            <a:r>
              <a:rPr lang="en-US" b="1" dirty="0"/>
              <a:t>Key Performance Metrics in System Design</a:t>
            </a:r>
            <a:endParaRPr lang="en-IN" b="1" dirty="0"/>
          </a:p>
        </p:txBody>
      </p:sp>
      <p:sp>
        <p:nvSpPr>
          <p:cNvPr id="3" name="Google Shape;113;p2">
            <a:extLst>
              <a:ext uri="{FF2B5EF4-FFF2-40B4-BE49-F238E27FC236}">
                <a16:creationId xmlns:a16="http://schemas.microsoft.com/office/drawing/2014/main" id="{BEE637CC-9CE0-DB25-D728-3E79C26D9E2F}"/>
              </a:ext>
            </a:extLst>
          </p:cNvPr>
          <p:cNvSpPr txBox="1"/>
          <p:nvPr/>
        </p:nvSpPr>
        <p:spPr>
          <a:xfrm>
            <a:off x="654393" y="1659305"/>
            <a:ext cx="8275973" cy="2585283"/>
          </a:xfrm>
          <a:prstGeom prst="rect">
            <a:avLst/>
          </a:prstGeom>
          <a:noFill/>
          <a:ln>
            <a:noFill/>
          </a:ln>
        </p:spPr>
        <p:txBody>
          <a:bodyPr spcFirstLastPara="1" wrap="square" lIns="91425" tIns="45700" rIns="91425" bIns="45700" anchor="t" anchorCtr="0">
            <a:spAutoFit/>
          </a:bodyPr>
          <a:lstStyle/>
          <a:p>
            <a:r>
              <a:rPr lang="en-IN" b="1" u="sng" dirty="0"/>
              <a:t>Queries Per Second (QPS)</a:t>
            </a:r>
          </a:p>
          <a:p>
            <a:endParaRPr lang="en-IN" b="1" u="sng" dirty="0"/>
          </a:p>
          <a:p>
            <a:r>
              <a:rPr lang="en-IN" b="1" dirty="0"/>
              <a:t>Example: </a:t>
            </a:r>
            <a:br>
              <a:rPr lang="en-IN" b="1" dirty="0"/>
            </a:br>
            <a:r>
              <a:rPr lang="it-IT" b="1" dirty="0"/>
              <a:t>Scenario:</a:t>
            </a:r>
          </a:p>
          <a:p>
            <a:r>
              <a:rPr lang="it-IT" dirty="0"/>
              <a:t>60,000 users visit the site per minute</a:t>
            </a:r>
            <a:br>
              <a:rPr lang="it-IT" dirty="0"/>
            </a:br>
            <a:br>
              <a:rPr lang="it-IT" dirty="0"/>
            </a:br>
            <a:r>
              <a:rPr lang="en-US" dirty="0"/>
              <a:t>QPS = 60,000 / 60 = 1,000 QPS</a:t>
            </a:r>
          </a:p>
          <a:p>
            <a:r>
              <a:rPr lang="en-US" dirty="0"/>
              <a:t>➡ System must handle 1,000 requests per second</a:t>
            </a:r>
            <a:endParaRPr lang="it-IT" dirty="0"/>
          </a:p>
          <a:p>
            <a:endParaRPr lang="en-IN" dirty="0"/>
          </a:p>
        </p:txBody>
      </p:sp>
      <p:sp>
        <p:nvSpPr>
          <p:cNvPr id="4" name="TextBox 3">
            <a:extLst>
              <a:ext uri="{FF2B5EF4-FFF2-40B4-BE49-F238E27FC236}">
                <a16:creationId xmlns:a16="http://schemas.microsoft.com/office/drawing/2014/main" id="{04AA77C3-0869-0E68-5B83-2A8D7B073617}"/>
              </a:ext>
            </a:extLst>
          </p:cNvPr>
          <p:cNvSpPr txBox="1"/>
          <p:nvPr/>
        </p:nvSpPr>
        <p:spPr>
          <a:xfrm>
            <a:off x="654393" y="4244588"/>
            <a:ext cx="6096000" cy="2308324"/>
          </a:xfrm>
          <a:prstGeom prst="rect">
            <a:avLst/>
          </a:prstGeom>
          <a:noFill/>
        </p:spPr>
        <p:txBody>
          <a:bodyPr wrap="square">
            <a:spAutoFit/>
          </a:bodyPr>
          <a:lstStyle/>
          <a:p>
            <a:pPr>
              <a:buNone/>
            </a:pPr>
            <a:r>
              <a:rPr lang="en-US" b="1" dirty="0"/>
              <a:t>Read vs Write QPS</a:t>
            </a:r>
          </a:p>
          <a:p>
            <a:pPr>
              <a:buNone/>
            </a:pPr>
            <a:r>
              <a:rPr lang="en-US" dirty="0"/>
              <a:t>In E-commerce:</a:t>
            </a:r>
          </a:p>
          <a:p>
            <a:pPr>
              <a:buFont typeface="Arial" panose="020B0604020202020204" pitchFamily="34" charset="0"/>
              <a:buChar char="•"/>
            </a:pPr>
            <a:r>
              <a:rPr lang="en-US" b="1" dirty="0"/>
              <a:t>Read QPS</a:t>
            </a:r>
            <a:r>
              <a:rPr lang="en-US" dirty="0"/>
              <a:t> (higher)</a:t>
            </a:r>
          </a:p>
          <a:p>
            <a:pPr marL="742950" lvl="1" indent="-285750">
              <a:buFont typeface="Arial" panose="020B0604020202020204" pitchFamily="34" charset="0"/>
              <a:buChar char="•"/>
            </a:pPr>
            <a:r>
              <a:rPr lang="en-US" dirty="0"/>
              <a:t>Browse products</a:t>
            </a:r>
          </a:p>
          <a:p>
            <a:pPr marL="742950" lvl="1" indent="-285750">
              <a:buFont typeface="Arial" panose="020B0604020202020204" pitchFamily="34" charset="0"/>
              <a:buChar char="•"/>
            </a:pPr>
            <a:r>
              <a:rPr lang="en-US" dirty="0"/>
              <a:t>View product details</a:t>
            </a:r>
          </a:p>
          <a:p>
            <a:pPr>
              <a:buFont typeface="Arial" panose="020B0604020202020204" pitchFamily="34" charset="0"/>
              <a:buChar char="•"/>
            </a:pPr>
            <a:r>
              <a:rPr lang="en-US" b="1" dirty="0"/>
              <a:t>Write QPS</a:t>
            </a:r>
            <a:r>
              <a:rPr lang="en-US" dirty="0"/>
              <a:t> (lower)</a:t>
            </a:r>
          </a:p>
          <a:p>
            <a:pPr marL="742950" lvl="1" indent="-285750">
              <a:buFont typeface="Arial" panose="020B0604020202020204" pitchFamily="34" charset="0"/>
              <a:buChar char="•"/>
            </a:pPr>
            <a:r>
              <a:rPr lang="en-US" dirty="0"/>
              <a:t>Place orders</a:t>
            </a:r>
          </a:p>
          <a:p>
            <a:pPr marL="742950" lvl="1" indent="-285750">
              <a:buFont typeface="Arial" panose="020B0604020202020204" pitchFamily="34" charset="0"/>
              <a:buChar char="•"/>
            </a:pPr>
            <a:r>
              <a:rPr lang="en-US" dirty="0"/>
              <a:t>Make payments</a:t>
            </a:r>
          </a:p>
        </p:txBody>
      </p:sp>
      <p:sp>
        <p:nvSpPr>
          <p:cNvPr id="6" name="TextBox 5">
            <a:extLst>
              <a:ext uri="{FF2B5EF4-FFF2-40B4-BE49-F238E27FC236}">
                <a16:creationId xmlns:a16="http://schemas.microsoft.com/office/drawing/2014/main" id="{705936CC-190C-1509-E5BE-9F6C9F29E240}"/>
              </a:ext>
            </a:extLst>
          </p:cNvPr>
          <p:cNvSpPr txBox="1"/>
          <p:nvPr/>
        </p:nvSpPr>
        <p:spPr>
          <a:xfrm>
            <a:off x="7592603" y="1666273"/>
            <a:ext cx="4599397" cy="1477328"/>
          </a:xfrm>
          <a:prstGeom prst="rect">
            <a:avLst/>
          </a:prstGeom>
          <a:noFill/>
        </p:spPr>
        <p:txBody>
          <a:bodyPr wrap="square">
            <a:spAutoFit/>
          </a:bodyPr>
          <a:lstStyle/>
          <a:p>
            <a:pPr>
              <a:buNone/>
            </a:pPr>
            <a:r>
              <a:rPr lang="en-US" b="1" dirty="0"/>
              <a:t>Why QPS Is Critical in Design</a:t>
            </a:r>
          </a:p>
          <a:p>
            <a:pPr>
              <a:buFont typeface="Arial" panose="020B0604020202020204" pitchFamily="34" charset="0"/>
              <a:buChar char="•"/>
            </a:pPr>
            <a:r>
              <a:rPr lang="en-US" dirty="0"/>
              <a:t>Helps decide:</a:t>
            </a:r>
          </a:p>
          <a:p>
            <a:pPr marL="742950" lvl="1" indent="-285750">
              <a:buFont typeface="Arial" panose="020B0604020202020204" pitchFamily="34" charset="0"/>
              <a:buChar char="•"/>
            </a:pPr>
            <a:r>
              <a:rPr lang="en-US" dirty="0"/>
              <a:t>Number of servers</a:t>
            </a:r>
          </a:p>
          <a:p>
            <a:pPr marL="742950" lvl="1" indent="-285750">
              <a:buFont typeface="Arial" panose="020B0604020202020204" pitchFamily="34" charset="0"/>
              <a:buChar char="•"/>
            </a:pPr>
            <a:r>
              <a:rPr lang="en-US" dirty="0"/>
              <a:t>DB capacity</a:t>
            </a:r>
          </a:p>
          <a:p>
            <a:pPr marL="742950" lvl="1" indent="-285750">
              <a:buFont typeface="Arial" panose="020B0604020202020204" pitchFamily="34" charset="0"/>
              <a:buChar char="•"/>
            </a:pPr>
            <a:r>
              <a:rPr lang="en-US" dirty="0"/>
              <a:t>Cache usage</a:t>
            </a:r>
          </a:p>
        </p:txBody>
      </p:sp>
    </p:spTree>
    <p:extLst>
      <p:ext uri="{BB962C8B-B14F-4D97-AF65-F5344CB8AC3E}">
        <p14:creationId xmlns:p14="http://schemas.microsoft.com/office/powerpoint/2010/main" val="14570495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72390-0C81-44DD-AE3C-13C551E597D4}"/>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3F6595E3-BF0E-9277-E0FB-7C611FCD87F0}"/>
              </a:ext>
            </a:extLst>
          </p:cNvPr>
          <p:cNvSpPr>
            <a:spLocks noGrp="1"/>
          </p:cNvSpPr>
          <p:nvPr>
            <p:ph type="title"/>
          </p:nvPr>
        </p:nvSpPr>
        <p:spPr>
          <a:xfrm>
            <a:off x="654393" y="987572"/>
            <a:ext cx="10515600" cy="533233"/>
          </a:xfrm>
        </p:spPr>
        <p:txBody>
          <a:bodyPr>
            <a:normAutofit fontScale="90000"/>
          </a:bodyPr>
          <a:lstStyle/>
          <a:p>
            <a:r>
              <a:rPr lang="en-US" b="1" dirty="0"/>
              <a:t>Key Performance Metrics in System Design</a:t>
            </a:r>
            <a:endParaRPr lang="en-IN" b="1" dirty="0"/>
          </a:p>
        </p:txBody>
      </p:sp>
      <p:sp>
        <p:nvSpPr>
          <p:cNvPr id="2" name="Google Shape;113;p2">
            <a:extLst>
              <a:ext uri="{FF2B5EF4-FFF2-40B4-BE49-F238E27FC236}">
                <a16:creationId xmlns:a16="http://schemas.microsoft.com/office/drawing/2014/main" id="{B6BE2DDE-6461-578B-7C7E-D306BBF45815}"/>
              </a:ext>
            </a:extLst>
          </p:cNvPr>
          <p:cNvSpPr txBox="1"/>
          <p:nvPr/>
        </p:nvSpPr>
        <p:spPr>
          <a:xfrm>
            <a:off x="654393" y="1803032"/>
            <a:ext cx="8275973" cy="2677616"/>
          </a:xfrm>
          <a:prstGeom prst="rect">
            <a:avLst/>
          </a:prstGeom>
          <a:noFill/>
          <a:ln>
            <a:noFill/>
          </a:ln>
        </p:spPr>
        <p:txBody>
          <a:bodyPr spcFirstLastPara="1" wrap="square" lIns="91425" tIns="45700" rIns="91425" bIns="45700" anchor="t" anchorCtr="0">
            <a:spAutoFit/>
          </a:bodyPr>
          <a:lstStyle/>
          <a:p>
            <a:r>
              <a:rPr lang="en-IN" b="1" dirty="0"/>
              <a:t>Importance of QPS in System Design</a:t>
            </a:r>
          </a:p>
          <a:p>
            <a:endParaRPr lang="en-IN" b="1" dirty="0"/>
          </a:p>
          <a:p>
            <a:r>
              <a:rPr lang="en-IN" b="1" dirty="0"/>
              <a:t>QPS is used to:</a:t>
            </a:r>
          </a:p>
          <a:p>
            <a:pPr marL="285750" indent="-285750">
              <a:buFont typeface="Arial" panose="020B0604020202020204" pitchFamily="34" charset="0"/>
              <a:buChar char="•"/>
            </a:pPr>
            <a:r>
              <a:rPr lang="en-IN" dirty="0"/>
              <a:t>Estimate server capacity</a:t>
            </a:r>
          </a:p>
          <a:p>
            <a:pPr marL="285750" indent="-285750">
              <a:buFont typeface="Arial" panose="020B0604020202020204" pitchFamily="34" charset="0"/>
              <a:buChar char="•"/>
            </a:pPr>
            <a:r>
              <a:rPr lang="en-IN" dirty="0"/>
              <a:t>Design load balancers</a:t>
            </a:r>
          </a:p>
          <a:p>
            <a:pPr marL="285750" indent="-285750">
              <a:buFont typeface="Arial" panose="020B0604020202020204" pitchFamily="34" charset="0"/>
              <a:buChar char="•"/>
            </a:pPr>
            <a:r>
              <a:rPr lang="en-IN" dirty="0"/>
              <a:t>Decide database scaling strategies</a:t>
            </a:r>
          </a:p>
          <a:p>
            <a:endParaRPr lang="en-IN" dirty="0"/>
          </a:p>
          <a:p>
            <a:r>
              <a:rPr lang="en-IN" b="1" dirty="0"/>
              <a:t>High QPS systems often require:</a:t>
            </a:r>
          </a:p>
          <a:p>
            <a:pPr marL="285750" indent="-285750">
              <a:buFont typeface="Arial" panose="020B0604020202020204" pitchFamily="34" charset="0"/>
              <a:buChar char="•"/>
            </a:pPr>
            <a:r>
              <a:rPr lang="en-IN" dirty="0"/>
              <a:t>Horizontal scaling</a:t>
            </a:r>
          </a:p>
          <a:p>
            <a:pPr marL="285750" indent="-285750">
              <a:buFont typeface="Arial" panose="020B0604020202020204" pitchFamily="34" charset="0"/>
              <a:buChar char="•"/>
            </a:pPr>
            <a:r>
              <a:rPr lang="en-IN" dirty="0"/>
              <a:t>Caching</a:t>
            </a:r>
          </a:p>
          <a:p>
            <a:pPr marL="285750" indent="-285750">
              <a:buFont typeface="Arial" panose="020B0604020202020204" pitchFamily="34" charset="0"/>
              <a:buChar char="•"/>
            </a:pPr>
            <a:r>
              <a:rPr lang="en-IN" dirty="0"/>
              <a:t>Efficient indexing</a:t>
            </a:r>
          </a:p>
          <a:p>
            <a:endParaRPr lang="en-IN" dirty="0"/>
          </a:p>
        </p:txBody>
      </p:sp>
      <p:sp>
        <p:nvSpPr>
          <p:cNvPr id="5" name="TextBox 4">
            <a:extLst>
              <a:ext uri="{FF2B5EF4-FFF2-40B4-BE49-F238E27FC236}">
                <a16:creationId xmlns:a16="http://schemas.microsoft.com/office/drawing/2014/main" id="{9E0BB65B-FB42-2C7C-34FB-44A9F5828EEB}"/>
              </a:ext>
            </a:extLst>
          </p:cNvPr>
          <p:cNvSpPr txBox="1"/>
          <p:nvPr/>
        </p:nvSpPr>
        <p:spPr>
          <a:xfrm>
            <a:off x="7350617" y="1803032"/>
            <a:ext cx="3488759" cy="2031325"/>
          </a:xfrm>
          <a:prstGeom prst="rect">
            <a:avLst/>
          </a:prstGeom>
          <a:noFill/>
        </p:spPr>
        <p:txBody>
          <a:bodyPr wrap="square">
            <a:spAutoFit/>
          </a:bodyPr>
          <a:lstStyle/>
          <a:p>
            <a:pPr>
              <a:buNone/>
            </a:pPr>
            <a:r>
              <a:rPr lang="en-US" b="1" dirty="0"/>
              <a:t>QPS Optimization Techniques</a:t>
            </a:r>
          </a:p>
          <a:p>
            <a:pPr>
              <a:buNone/>
            </a:pPr>
            <a:endParaRPr lang="en-US" b="1" dirty="0"/>
          </a:p>
          <a:p>
            <a:pPr>
              <a:buFont typeface="Arial" panose="020B0604020202020204" pitchFamily="34" charset="0"/>
              <a:buChar char="•"/>
            </a:pPr>
            <a:r>
              <a:rPr lang="en-US" dirty="0"/>
              <a:t>Read replicas for databases</a:t>
            </a:r>
          </a:p>
          <a:p>
            <a:endParaRPr lang="en-US" dirty="0"/>
          </a:p>
          <a:p>
            <a:pPr>
              <a:buFont typeface="Arial" panose="020B0604020202020204" pitchFamily="34" charset="0"/>
              <a:buChar char="•"/>
            </a:pPr>
            <a:r>
              <a:rPr lang="en-US" dirty="0"/>
              <a:t>Caching popular product pages</a:t>
            </a:r>
          </a:p>
          <a:p>
            <a:endParaRPr lang="en-US" dirty="0"/>
          </a:p>
          <a:p>
            <a:pPr>
              <a:buFont typeface="Arial" panose="020B0604020202020204" pitchFamily="34" charset="0"/>
              <a:buChar char="•"/>
            </a:pPr>
            <a:r>
              <a:rPr lang="en-US" dirty="0"/>
              <a:t>Rate limiting to protect backend</a:t>
            </a:r>
          </a:p>
        </p:txBody>
      </p:sp>
    </p:spTree>
    <p:extLst>
      <p:ext uri="{BB962C8B-B14F-4D97-AF65-F5344CB8AC3E}">
        <p14:creationId xmlns:p14="http://schemas.microsoft.com/office/powerpoint/2010/main" val="17776853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7EBF8-522C-F399-27E7-C188694CACA6}"/>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0E0375F7-E610-0C5D-10E2-F1A9CC162AEA}"/>
              </a:ext>
            </a:extLst>
          </p:cNvPr>
          <p:cNvSpPr>
            <a:spLocks noGrp="1"/>
          </p:cNvSpPr>
          <p:nvPr>
            <p:ph type="title"/>
          </p:nvPr>
        </p:nvSpPr>
        <p:spPr>
          <a:xfrm>
            <a:off x="654393" y="987572"/>
            <a:ext cx="10515600" cy="533233"/>
          </a:xfrm>
        </p:spPr>
        <p:txBody>
          <a:bodyPr>
            <a:normAutofit fontScale="90000"/>
          </a:bodyPr>
          <a:lstStyle/>
          <a:p>
            <a:r>
              <a:rPr lang="en-US" b="1" dirty="0"/>
              <a:t>Key Performance Metrics in System Design</a:t>
            </a:r>
            <a:endParaRPr lang="en-IN" b="1" dirty="0"/>
          </a:p>
        </p:txBody>
      </p:sp>
      <p:sp>
        <p:nvSpPr>
          <p:cNvPr id="3" name="Google Shape;113;p2">
            <a:extLst>
              <a:ext uri="{FF2B5EF4-FFF2-40B4-BE49-F238E27FC236}">
                <a16:creationId xmlns:a16="http://schemas.microsoft.com/office/drawing/2014/main" id="{76639F95-94B5-0A25-930B-6FA882DE92DB}"/>
              </a:ext>
            </a:extLst>
          </p:cNvPr>
          <p:cNvSpPr txBox="1"/>
          <p:nvPr/>
        </p:nvSpPr>
        <p:spPr>
          <a:xfrm>
            <a:off x="654393" y="2305635"/>
            <a:ext cx="8275973" cy="3139281"/>
          </a:xfrm>
          <a:prstGeom prst="rect">
            <a:avLst/>
          </a:prstGeom>
          <a:noFill/>
          <a:ln>
            <a:noFill/>
          </a:ln>
        </p:spPr>
        <p:txBody>
          <a:bodyPr spcFirstLastPara="1" wrap="square" lIns="91425" tIns="45700" rIns="91425" bIns="45700" anchor="t" anchorCtr="0">
            <a:spAutoFit/>
          </a:bodyPr>
          <a:lstStyle/>
          <a:p>
            <a:r>
              <a:rPr lang="en-IN" b="1" u="sng" dirty="0"/>
              <a:t>Availability</a:t>
            </a:r>
          </a:p>
          <a:p>
            <a:endParaRPr lang="en-IN" b="1" dirty="0"/>
          </a:p>
          <a:p>
            <a:r>
              <a:rPr lang="en-IN" b="1" dirty="0"/>
              <a:t>Availability</a:t>
            </a:r>
            <a:r>
              <a:rPr lang="en-IN" dirty="0"/>
              <a:t> measures how often a system is operational and accessible.</a:t>
            </a:r>
          </a:p>
          <a:p>
            <a:r>
              <a:rPr lang="en-IN" dirty="0"/>
              <a:t>It is usually expressed as a </a:t>
            </a:r>
            <a:r>
              <a:rPr lang="en-IN" b="1" dirty="0"/>
              <a:t>percentage</a:t>
            </a:r>
            <a:r>
              <a:rPr lang="en-IN" dirty="0"/>
              <a:t>.</a:t>
            </a:r>
          </a:p>
          <a:p>
            <a:endParaRPr lang="en-IN" dirty="0"/>
          </a:p>
          <a:p>
            <a:r>
              <a:rPr lang="en-IN" b="1" dirty="0"/>
              <a:t>Formula:</a:t>
            </a:r>
            <a:br>
              <a:rPr lang="en-IN" dirty="0"/>
            </a:br>
            <a:r>
              <a:rPr lang="en-IN" dirty="0"/>
              <a:t>Availability = (Uptime / Total Time) × 100</a:t>
            </a:r>
          </a:p>
          <a:p>
            <a:endParaRPr lang="en-IN" dirty="0"/>
          </a:p>
          <a:p>
            <a:r>
              <a:rPr lang="en-IN" b="1" dirty="0"/>
              <a:t>Example:</a:t>
            </a:r>
          </a:p>
          <a:p>
            <a:r>
              <a:rPr lang="en-IN" dirty="0"/>
              <a:t>99.9% availability allows about </a:t>
            </a:r>
            <a:r>
              <a:rPr lang="en-IN" b="1" dirty="0"/>
              <a:t>8.7 hours of downtime per year</a:t>
            </a:r>
            <a:endParaRPr lang="en-IN" dirty="0"/>
          </a:p>
          <a:p>
            <a:endParaRPr lang="en-IN" dirty="0"/>
          </a:p>
        </p:txBody>
      </p:sp>
    </p:spTree>
    <p:extLst>
      <p:ext uri="{BB962C8B-B14F-4D97-AF65-F5344CB8AC3E}">
        <p14:creationId xmlns:p14="http://schemas.microsoft.com/office/powerpoint/2010/main" val="37954453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642DD-98F9-044C-060E-6D030B89FA4F}"/>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CFEAE2CF-545F-ECC3-1014-8AE947F87EDC}"/>
              </a:ext>
            </a:extLst>
          </p:cNvPr>
          <p:cNvSpPr>
            <a:spLocks noGrp="1"/>
          </p:cNvSpPr>
          <p:nvPr>
            <p:ph type="title"/>
          </p:nvPr>
        </p:nvSpPr>
        <p:spPr>
          <a:xfrm>
            <a:off x="654393" y="987572"/>
            <a:ext cx="10515600" cy="533233"/>
          </a:xfrm>
        </p:spPr>
        <p:txBody>
          <a:bodyPr>
            <a:normAutofit fontScale="90000"/>
          </a:bodyPr>
          <a:lstStyle/>
          <a:p>
            <a:r>
              <a:rPr lang="en-US" b="1" dirty="0"/>
              <a:t>Key Performance Metrics in System Design</a:t>
            </a:r>
            <a:endParaRPr lang="en-IN" b="1" dirty="0"/>
          </a:p>
        </p:txBody>
      </p:sp>
      <p:sp>
        <p:nvSpPr>
          <p:cNvPr id="2" name="Google Shape;113;p2">
            <a:extLst>
              <a:ext uri="{FF2B5EF4-FFF2-40B4-BE49-F238E27FC236}">
                <a16:creationId xmlns:a16="http://schemas.microsoft.com/office/drawing/2014/main" id="{0A7BAE4C-2E64-6E55-061B-717FEAB93715}"/>
              </a:ext>
            </a:extLst>
          </p:cNvPr>
          <p:cNvSpPr txBox="1"/>
          <p:nvPr/>
        </p:nvSpPr>
        <p:spPr>
          <a:xfrm>
            <a:off x="654393" y="1982470"/>
            <a:ext cx="8275973" cy="4247276"/>
          </a:xfrm>
          <a:prstGeom prst="rect">
            <a:avLst/>
          </a:prstGeom>
          <a:noFill/>
          <a:ln>
            <a:noFill/>
          </a:ln>
        </p:spPr>
        <p:txBody>
          <a:bodyPr spcFirstLastPara="1" wrap="square" lIns="91425" tIns="45700" rIns="91425" bIns="45700" anchor="t" anchorCtr="0">
            <a:spAutoFit/>
          </a:bodyPr>
          <a:lstStyle/>
          <a:p>
            <a:r>
              <a:rPr lang="en-IN" b="1" dirty="0"/>
              <a:t>Availability Levels (Service Level Agreement Example)</a:t>
            </a:r>
            <a:br>
              <a:rPr lang="en-IN" b="1" dirty="0"/>
            </a:br>
            <a:r>
              <a:rPr lang="en-US" dirty="0"/>
              <a:t>In system design, SLA answers:</a:t>
            </a:r>
          </a:p>
          <a:p>
            <a:r>
              <a:rPr lang="en-US" i="1" dirty="0"/>
              <a:t>“What level of performance are we promising?”</a:t>
            </a:r>
            <a:endParaRPr lang="en-IN" b="1" dirty="0"/>
          </a:p>
          <a:p>
            <a:endParaRPr lang="en-IN" b="1" dirty="0"/>
          </a:p>
          <a:p>
            <a:r>
              <a:rPr lang="en-IN" b="1" dirty="0"/>
              <a:t>Common availability targets:</a:t>
            </a:r>
          </a:p>
          <a:p>
            <a:pPr marL="285750" indent="-285750">
              <a:buFont typeface="Arial" panose="020B0604020202020204" pitchFamily="34" charset="0"/>
              <a:buChar char="•"/>
            </a:pPr>
            <a:r>
              <a:rPr lang="en-IN" dirty="0"/>
              <a:t>99% – basic systems</a:t>
            </a:r>
          </a:p>
          <a:p>
            <a:pPr marL="285750" indent="-285750">
              <a:buFont typeface="Arial" panose="020B0604020202020204" pitchFamily="34" charset="0"/>
              <a:buChar char="•"/>
            </a:pPr>
            <a:r>
              <a:rPr lang="en-IN" dirty="0"/>
              <a:t>99.9% – most production systems</a:t>
            </a:r>
          </a:p>
          <a:p>
            <a:pPr marL="285750" indent="-285750">
              <a:buFont typeface="Arial" panose="020B0604020202020204" pitchFamily="34" charset="0"/>
              <a:buChar char="•"/>
            </a:pPr>
            <a:r>
              <a:rPr lang="en-IN" dirty="0"/>
              <a:t>99.99% – critical systems</a:t>
            </a:r>
          </a:p>
          <a:p>
            <a:pPr marL="285750" indent="-285750">
              <a:buFont typeface="Arial" panose="020B0604020202020204" pitchFamily="34" charset="0"/>
              <a:buChar char="•"/>
            </a:pPr>
            <a:r>
              <a:rPr lang="en-IN" dirty="0"/>
              <a:t>99.999% – highly reliable systems (banking, healthcare)</a:t>
            </a:r>
          </a:p>
          <a:p>
            <a:endParaRPr lang="en-IN" dirty="0"/>
          </a:p>
          <a:p>
            <a:r>
              <a:rPr lang="en-IN" b="1" dirty="0"/>
              <a:t>Higher availability requires:</a:t>
            </a:r>
          </a:p>
          <a:p>
            <a:pPr marL="285750" indent="-285750">
              <a:buFont typeface="Arial" panose="020B0604020202020204" pitchFamily="34" charset="0"/>
              <a:buChar char="•"/>
            </a:pPr>
            <a:r>
              <a:rPr lang="en-IN" dirty="0"/>
              <a:t>Redundancy</a:t>
            </a:r>
          </a:p>
          <a:p>
            <a:pPr marL="285750" indent="-285750">
              <a:buFont typeface="Arial" panose="020B0604020202020204" pitchFamily="34" charset="0"/>
              <a:buChar char="•"/>
            </a:pPr>
            <a:r>
              <a:rPr lang="en-IN" dirty="0"/>
              <a:t>Failover mechanisms</a:t>
            </a:r>
          </a:p>
          <a:p>
            <a:pPr marL="285750" indent="-285750">
              <a:buFont typeface="Arial" panose="020B0604020202020204" pitchFamily="34" charset="0"/>
              <a:buChar char="•"/>
            </a:pPr>
            <a:r>
              <a:rPr lang="en-IN" dirty="0"/>
              <a:t>Monitoring and alerting</a:t>
            </a:r>
          </a:p>
          <a:p>
            <a:endParaRPr lang="en-IN" dirty="0"/>
          </a:p>
        </p:txBody>
      </p:sp>
      <p:sp>
        <p:nvSpPr>
          <p:cNvPr id="5" name="TextBox 4">
            <a:extLst>
              <a:ext uri="{FF2B5EF4-FFF2-40B4-BE49-F238E27FC236}">
                <a16:creationId xmlns:a16="http://schemas.microsoft.com/office/drawing/2014/main" id="{6BEF4626-4AD0-452D-95BA-F02162D84854}"/>
              </a:ext>
            </a:extLst>
          </p:cNvPr>
          <p:cNvSpPr txBox="1"/>
          <p:nvPr/>
        </p:nvSpPr>
        <p:spPr>
          <a:xfrm>
            <a:off x="7681234" y="1982470"/>
            <a:ext cx="3488759" cy="1477328"/>
          </a:xfrm>
          <a:prstGeom prst="rect">
            <a:avLst/>
          </a:prstGeom>
          <a:noFill/>
        </p:spPr>
        <p:txBody>
          <a:bodyPr wrap="square">
            <a:spAutoFit/>
          </a:bodyPr>
          <a:lstStyle/>
          <a:p>
            <a:pPr>
              <a:buNone/>
            </a:pPr>
            <a:r>
              <a:rPr lang="en-US" b="1" dirty="0"/>
              <a:t>Real Example</a:t>
            </a:r>
          </a:p>
          <a:p>
            <a:pPr>
              <a:buFont typeface="Arial" panose="020B0604020202020204" pitchFamily="34" charset="0"/>
              <a:buChar char="•"/>
            </a:pPr>
            <a:r>
              <a:rPr lang="en-US" dirty="0"/>
              <a:t>During a sale, website crashes for 2 hours </a:t>
            </a:r>
          </a:p>
          <a:p>
            <a:pPr>
              <a:buFont typeface="Arial" panose="020B0604020202020204" pitchFamily="34" charset="0"/>
              <a:buChar char="•"/>
            </a:pPr>
            <a:r>
              <a:rPr lang="en-US" dirty="0"/>
              <a:t>SLA violated → business loss + penalties</a:t>
            </a:r>
          </a:p>
        </p:txBody>
      </p:sp>
      <p:sp>
        <p:nvSpPr>
          <p:cNvPr id="7" name="TextBox 6">
            <a:extLst>
              <a:ext uri="{FF2B5EF4-FFF2-40B4-BE49-F238E27FC236}">
                <a16:creationId xmlns:a16="http://schemas.microsoft.com/office/drawing/2014/main" id="{F5FC2AF5-E7D7-B570-4265-CFDB1E0AE018}"/>
              </a:ext>
            </a:extLst>
          </p:cNvPr>
          <p:cNvSpPr txBox="1"/>
          <p:nvPr/>
        </p:nvSpPr>
        <p:spPr>
          <a:xfrm>
            <a:off x="7614913" y="4266472"/>
            <a:ext cx="2630905" cy="1754326"/>
          </a:xfrm>
          <a:prstGeom prst="rect">
            <a:avLst/>
          </a:prstGeom>
          <a:noFill/>
        </p:spPr>
        <p:txBody>
          <a:bodyPr wrap="square">
            <a:spAutoFit/>
          </a:bodyPr>
          <a:lstStyle/>
          <a:p>
            <a:pPr>
              <a:buNone/>
            </a:pPr>
            <a:r>
              <a:rPr lang="en-US" b="1" dirty="0"/>
              <a:t>Design Impact</a:t>
            </a:r>
          </a:p>
          <a:p>
            <a:pPr>
              <a:buNone/>
            </a:pPr>
            <a:r>
              <a:rPr lang="en-US" dirty="0"/>
              <a:t>To meet this SLA, system must use:</a:t>
            </a:r>
          </a:p>
          <a:p>
            <a:pPr>
              <a:buFont typeface="Arial" panose="020B0604020202020204" pitchFamily="34" charset="0"/>
              <a:buChar char="•"/>
            </a:pPr>
            <a:r>
              <a:rPr lang="en-US" dirty="0"/>
              <a:t>Load balancers</a:t>
            </a:r>
          </a:p>
          <a:p>
            <a:pPr>
              <a:buFont typeface="Arial" panose="020B0604020202020204" pitchFamily="34" charset="0"/>
              <a:buChar char="•"/>
            </a:pPr>
            <a:r>
              <a:rPr lang="en-US" dirty="0"/>
              <a:t>Multiple servers</a:t>
            </a:r>
          </a:p>
          <a:p>
            <a:pPr>
              <a:buFont typeface="Arial" panose="020B0604020202020204" pitchFamily="34" charset="0"/>
              <a:buChar char="•"/>
            </a:pPr>
            <a:r>
              <a:rPr lang="en-US" dirty="0"/>
              <a:t>Database replication</a:t>
            </a:r>
          </a:p>
        </p:txBody>
      </p:sp>
    </p:spTree>
    <p:extLst>
      <p:ext uri="{BB962C8B-B14F-4D97-AF65-F5344CB8AC3E}">
        <p14:creationId xmlns:p14="http://schemas.microsoft.com/office/powerpoint/2010/main" val="15499839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AAF0D-8107-8FF9-40C2-F363D0ADEA73}"/>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0E365FE2-B5C4-AC8C-496A-187EDE095324}"/>
              </a:ext>
            </a:extLst>
          </p:cNvPr>
          <p:cNvSpPr>
            <a:spLocks noGrp="1"/>
          </p:cNvSpPr>
          <p:nvPr>
            <p:ph type="title"/>
          </p:nvPr>
        </p:nvSpPr>
        <p:spPr>
          <a:xfrm>
            <a:off x="654393" y="987572"/>
            <a:ext cx="10515600" cy="533233"/>
          </a:xfrm>
        </p:spPr>
        <p:txBody>
          <a:bodyPr>
            <a:normAutofit fontScale="90000"/>
          </a:bodyPr>
          <a:lstStyle/>
          <a:p>
            <a:r>
              <a:rPr lang="en-US" b="1" dirty="0"/>
              <a:t>Applications</a:t>
            </a:r>
            <a:endParaRPr lang="en-IN" b="1" dirty="0"/>
          </a:p>
        </p:txBody>
      </p:sp>
      <p:sp>
        <p:nvSpPr>
          <p:cNvPr id="3" name="Google Shape;111;p2">
            <a:extLst>
              <a:ext uri="{FF2B5EF4-FFF2-40B4-BE49-F238E27FC236}">
                <a16:creationId xmlns:a16="http://schemas.microsoft.com/office/drawing/2014/main" id="{CA368A98-93AF-2C4C-7F6B-F7C0DDB73894}"/>
              </a:ext>
            </a:extLst>
          </p:cNvPr>
          <p:cNvSpPr txBox="1">
            <a:spLocks/>
          </p:cNvSpPr>
          <p:nvPr/>
        </p:nvSpPr>
        <p:spPr>
          <a:xfrm>
            <a:off x="866762" y="1828800"/>
            <a:ext cx="10057911" cy="4668253"/>
          </a:xfrm>
          <a:prstGeom prst="rect">
            <a:avLst/>
          </a:prstGeom>
          <a:noFill/>
          <a:ln>
            <a:noFill/>
          </a:ln>
        </p:spPr>
        <p:txBody>
          <a:bodyPr spcFirstLastPara="1" vert="horz" wrap="square" lIns="91425" tIns="45700" rIns="91425" bIns="4570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0000"/>
              </a:lnSpc>
              <a:spcBef>
                <a:spcPts val="0"/>
              </a:spcBef>
              <a:buClr>
                <a:schemeClr val="dk1"/>
              </a:buClr>
              <a:buSzPts val="2400"/>
              <a:buFont typeface="Arial"/>
              <a:buNone/>
            </a:pPr>
            <a:r>
              <a:rPr lang="en-US" altLang="en-US" sz="1800" b="1" dirty="0">
                <a:latin typeface="Arial" panose="020B0604020202020204" pitchFamily="34" charset="0"/>
              </a:rPr>
              <a:t>Application 1: E-Commerce (Latency &amp; Availability)</a:t>
            </a:r>
            <a:endParaRPr lang="en-US" altLang="en-US" sz="1800" dirty="0">
              <a:latin typeface="Arial" panose="020B0604020202020204" pitchFamily="34" charset="0"/>
            </a:endParaRPr>
          </a:p>
          <a:p>
            <a:pPr marL="742950" lvl="1" indent="-285750" eaLnBrk="0" fontAlgn="base" hangingPunct="0">
              <a:lnSpc>
                <a:spcPct val="100000"/>
              </a:lnSpc>
              <a:spcBef>
                <a:spcPct val="0"/>
              </a:spcBef>
              <a:spcAft>
                <a:spcPct val="0"/>
              </a:spcAft>
            </a:pPr>
            <a:r>
              <a:rPr lang="en-US" altLang="en-US" sz="1800" dirty="0">
                <a:latin typeface="Arial" panose="020B0604020202020204" pitchFamily="34" charset="0"/>
              </a:rPr>
              <a:t>User adds item to cart. Low latency is required for UI responsiveness. High availability (99.99%) ensures no revenue loss during sales.</a:t>
            </a:r>
          </a:p>
          <a:p>
            <a:pPr marL="0" indent="0" eaLnBrk="0" fontAlgn="base" hangingPunct="0">
              <a:lnSpc>
                <a:spcPct val="100000"/>
              </a:lnSpc>
              <a:spcBef>
                <a:spcPct val="0"/>
              </a:spcBef>
              <a:spcAft>
                <a:spcPct val="0"/>
              </a:spcAft>
              <a:buFont typeface="Arial" panose="020B0604020202020204" pitchFamily="34" charset="0"/>
              <a:buNone/>
            </a:pPr>
            <a:r>
              <a:rPr lang="en-US" altLang="en-US" sz="1800" b="1" dirty="0">
                <a:latin typeface="Arial" panose="020B0604020202020204" pitchFamily="34" charset="0"/>
              </a:rPr>
              <a:t>Application 2: Twitter/Social Media (Read-Heavy QPS)</a:t>
            </a:r>
            <a:endParaRPr lang="en-US" altLang="en-US" sz="1800" dirty="0">
              <a:latin typeface="Arial" panose="020B0604020202020204" pitchFamily="34" charset="0"/>
            </a:endParaRPr>
          </a:p>
          <a:p>
            <a:pPr marL="742950" lvl="1" indent="-285750" eaLnBrk="0" fontAlgn="base" hangingPunct="0">
              <a:lnSpc>
                <a:spcPct val="100000"/>
              </a:lnSpc>
              <a:spcBef>
                <a:spcPct val="0"/>
              </a:spcBef>
              <a:spcAft>
                <a:spcPct val="0"/>
              </a:spcAft>
            </a:pPr>
            <a:r>
              <a:rPr lang="en-US" altLang="en-US" sz="1800" dirty="0">
                <a:latin typeface="Arial" panose="020B0604020202020204" pitchFamily="34" charset="0"/>
              </a:rPr>
              <a:t>200M users, read-heavy traffic. Uses Caching (Redis) for 90% of requests and Read Replicas for databases.</a:t>
            </a:r>
          </a:p>
          <a:p>
            <a:pPr marL="0" indent="0" eaLnBrk="0" fontAlgn="base" hangingPunct="0">
              <a:lnSpc>
                <a:spcPct val="100000"/>
              </a:lnSpc>
              <a:spcBef>
                <a:spcPct val="0"/>
              </a:spcBef>
              <a:spcAft>
                <a:spcPct val="0"/>
              </a:spcAft>
              <a:buFont typeface="Arial" panose="020B0604020202020204" pitchFamily="34" charset="0"/>
              <a:buNone/>
            </a:pPr>
            <a:r>
              <a:rPr lang="en-US" altLang="en-US" sz="1800" b="1" dirty="0">
                <a:latin typeface="Arial" panose="020B0604020202020204" pitchFamily="34" charset="0"/>
              </a:rPr>
              <a:t>Application 3: IoT Telemetry (Write-Heavy QPS)</a:t>
            </a:r>
            <a:endParaRPr lang="en-US" altLang="en-US" sz="1800" dirty="0">
              <a:latin typeface="Arial" panose="020B0604020202020204" pitchFamily="34" charset="0"/>
            </a:endParaRPr>
          </a:p>
          <a:p>
            <a:pPr marL="742950" lvl="1" indent="-285750" eaLnBrk="0" fontAlgn="base" hangingPunct="0">
              <a:lnSpc>
                <a:spcPct val="100000"/>
              </a:lnSpc>
              <a:spcBef>
                <a:spcPct val="0"/>
              </a:spcBef>
              <a:spcAft>
                <a:spcPct val="0"/>
              </a:spcAft>
            </a:pPr>
            <a:r>
              <a:rPr lang="en-US" altLang="en-US" sz="1800" dirty="0">
                <a:latin typeface="Arial" panose="020B0604020202020204" pitchFamily="34" charset="0"/>
              </a:rPr>
              <a:t>Millions of sensors. Uses Batching and Message Queues (Kafka) to handle massive write throughput.</a:t>
            </a:r>
          </a:p>
          <a:p>
            <a:pPr marL="0" indent="0" eaLnBrk="0" fontAlgn="base" hangingPunct="0">
              <a:lnSpc>
                <a:spcPct val="100000"/>
              </a:lnSpc>
              <a:spcBef>
                <a:spcPct val="0"/>
              </a:spcBef>
              <a:spcAft>
                <a:spcPct val="0"/>
              </a:spcAft>
              <a:buFont typeface="Arial" panose="020B0604020202020204" pitchFamily="34" charset="0"/>
              <a:buNone/>
            </a:pPr>
            <a:r>
              <a:rPr lang="en-US" altLang="en-US" sz="1800" b="1" dirty="0">
                <a:latin typeface="Arial" panose="020B0604020202020204" pitchFamily="34" charset="0"/>
              </a:rPr>
              <a:t>Application 4: Streaming Services (Scaling)</a:t>
            </a:r>
            <a:endParaRPr lang="en-US" altLang="en-US" sz="1800" dirty="0">
              <a:latin typeface="Arial" panose="020B0604020202020204" pitchFamily="34" charset="0"/>
            </a:endParaRPr>
          </a:p>
          <a:p>
            <a:pPr marL="742950" lvl="1" indent="-285750" eaLnBrk="0" fontAlgn="base" hangingPunct="0">
              <a:lnSpc>
                <a:spcPct val="100000"/>
              </a:lnSpc>
              <a:spcBef>
                <a:spcPct val="0"/>
              </a:spcBef>
              <a:spcAft>
                <a:spcPct val="0"/>
              </a:spcAft>
            </a:pPr>
            <a:r>
              <a:rPr lang="en-US" altLang="en-US" sz="1800" dirty="0">
                <a:latin typeface="Arial" panose="020B0604020202020204" pitchFamily="34" charset="0"/>
              </a:rPr>
              <a:t>Uses CDNs to solve network bottlenecks and horizontal scaling to handle concurrent user surges.</a:t>
            </a:r>
          </a:p>
          <a:p>
            <a:pPr marL="0" indent="0" eaLnBrk="0" fontAlgn="base" hangingPunct="0">
              <a:lnSpc>
                <a:spcPct val="100000"/>
              </a:lnSpc>
              <a:spcBef>
                <a:spcPct val="0"/>
              </a:spcBef>
              <a:spcAft>
                <a:spcPct val="0"/>
              </a:spcAft>
              <a:buFont typeface="Arial" panose="020B0604020202020204" pitchFamily="34" charset="0"/>
              <a:buNone/>
            </a:pPr>
            <a:endParaRPr lang="en-US" altLang="en-US" sz="1800" dirty="0">
              <a:latin typeface="Arial" panose="020B0604020202020204" pitchFamily="34" charset="0"/>
            </a:endParaRPr>
          </a:p>
          <a:p>
            <a:pPr marL="342900" indent="-342900" algn="just">
              <a:lnSpc>
                <a:spcPct val="100000"/>
              </a:lnSpc>
              <a:spcBef>
                <a:spcPts val="480"/>
              </a:spcBef>
              <a:buClr>
                <a:schemeClr val="dk1"/>
              </a:buClr>
              <a:buSzPts val="2400"/>
              <a:buFont typeface="Arial"/>
              <a:buNone/>
            </a:pPr>
            <a:endParaRPr lang="en-US" sz="2400" dirty="0">
              <a:solidFill>
                <a:schemeClr val="bg2"/>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5821063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4DD67-E73D-73F4-1330-B4ADB54FB09C}"/>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336DCB6B-CAEB-449B-34D0-EABFE2F2270F}"/>
              </a:ext>
            </a:extLst>
          </p:cNvPr>
          <p:cNvSpPr>
            <a:spLocks noGrp="1"/>
          </p:cNvSpPr>
          <p:nvPr>
            <p:ph type="title"/>
          </p:nvPr>
        </p:nvSpPr>
        <p:spPr>
          <a:xfrm>
            <a:off x="654393" y="987572"/>
            <a:ext cx="10515600" cy="533233"/>
          </a:xfrm>
        </p:spPr>
        <p:txBody>
          <a:bodyPr>
            <a:normAutofit fontScale="90000"/>
          </a:bodyPr>
          <a:lstStyle/>
          <a:p>
            <a:r>
              <a:rPr lang="en-US" b="1" dirty="0"/>
              <a:t>Scalability</a:t>
            </a:r>
            <a:endParaRPr lang="en-IN" b="1" dirty="0"/>
          </a:p>
        </p:txBody>
      </p:sp>
      <p:sp>
        <p:nvSpPr>
          <p:cNvPr id="4" name="TextBox 3">
            <a:extLst>
              <a:ext uri="{FF2B5EF4-FFF2-40B4-BE49-F238E27FC236}">
                <a16:creationId xmlns:a16="http://schemas.microsoft.com/office/drawing/2014/main" id="{64F34687-C528-7C43-52FB-C348C3FB1FB9}"/>
              </a:ext>
            </a:extLst>
          </p:cNvPr>
          <p:cNvSpPr txBox="1"/>
          <p:nvPr/>
        </p:nvSpPr>
        <p:spPr>
          <a:xfrm>
            <a:off x="654393" y="1520805"/>
            <a:ext cx="6100010" cy="369332"/>
          </a:xfrm>
          <a:prstGeom prst="rect">
            <a:avLst/>
          </a:prstGeom>
          <a:noFill/>
        </p:spPr>
        <p:txBody>
          <a:bodyPr wrap="square">
            <a:spAutoFit/>
          </a:bodyPr>
          <a:lstStyle/>
          <a:p>
            <a:r>
              <a:rPr lang="en-IN" dirty="0"/>
              <a:t>While running an </a:t>
            </a:r>
            <a:r>
              <a:rPr lang="en-IN" b="1" dirty="0"/>
              <a:t>E-commerce website</a:t>
            </a:r>
            <a:r>
              <a:rPr lang="en-IN" dirty="0"/>
              <a:t>.</a:t>
            </a:r>
          </a:p>
        </p:txBody>
      </p:sp>
      <p:sp>
        <p:nvSpPr>
          <p:cNvPr id="6" name="TextBox 5">
            <a:extLst>
              <a:ext uri="{FF2B5EF4-FFF2-40B4-BE49-F238E27FC236}">
                <a16:creationId xmlns:a16="http://schemas.microsoft.com/office/drawing/2014/main" id="{764451AD-418F-E9E3-CDB6-1EAB0D2310E5}"/>
              </a:ext>
            </a:extLst>
          </p:cNvPr>
          <p:cNvSpPr txBox="1"/>
          <p:nvPr/>
        </p:nvSpPr>
        <p:spPr>
          <a:xfrm>
            <a:off x="654393" y="2054038"/>
            <a:ext cx="6100010" cy="2585323"/>
          </a:xfrm>
          <a:prstGeom prst="rect">
            <a:avLst/>
          </a:prstGeom>
          <a:noFill/>
        </p:spPr>
        <p:txBody>
          <a:bodyPr wrap="square">
            <a:spAutoFit/>
          </a:bodyPr>
          <a:lstStyle/>
          <a:p>
            <a:pPr>
              <a:buNone/>
            </a:pPr>
            <a:r>
              <a:rPr lang="en-US" b="1" dirty="0"/>
              <a:t>Initial Situation</a:t>
            </a:r>
          </a:p>
          <a:p>
            <a:pPr>
              <a:buFont typeface="Arial" panose="020B0604020202020204" pitchFamily="34" charset="0"/>
              <a:buChar char="•"/>
            </a:pPr>
            <a:r>
              <a:rPr lang="en-US" dirty="0"/>
              <a:t>1 backend server</a:t>
            </a:r>
          </a:p>
          <a:p>
            <a:pPr>
              <a:buFont typeface="Arial" panose="020B0604020202020204" pitchFamily="34" charset="0"/>
              <a:buChar char="•"/>
            </a:pPr>
            <a:r>
              <a:rPr lang="en-US" dirty="0"/>
              <a:t>1 database</a:t>
            </a:r>
          </a:p>
          <a:p>
            <a:pPr>
              <a:buFont typeface="Arial" panose="020B0604020202020204" pitchFamily="34" charset="0"/>
              <a:buChar char="•"/>
            </a:pPr>
            <a:r>
              <a:rPr lang="en-US" dirty="0"/>
              <a:t>500–1,000 daily users</a:t>
            </a:r>
          </a:p>
          <a:p>
            <a:pPr>
              <a:buNone/>
            </a:pPr>
            <a:endParaRPr lang="en-US" dirty="0"/>
          </a:p>
          <a:p>
            <a:pPr>
              <a:buNone/>
            </a:pPr>
            <a:r>
              <a:rPr lang="en-US" dirty="0"/>
              <a:t>Everything works fine:</a:t>
            </a:r>
          </a:p>
          <a:p>
            <a:pPr>
              <a:buFont typeface="Arial" panose="020B0604020202020204" pitchFamily="34" charset="0"/>
              <a:buChar char="•"/>
            </a:pPr>
            <a:r>
              <a:rPr lang="en-US" dirty="0"/>
              <a:t>Pages load fast</a:t>
            </a:r>
          </a:p>
          <a:p>
            <a:pPr>
              <a:buFont typeface="Arial" panose="020B0604020202020204" pitchFamily="34" charset="0"/>
              <a:buChar char="•"/>
            </a:pPr>
            <a:r>
              <a:rPr lang="en-US" dirty="0"/>
              <a:t>Orders are placed successfully</a:t>
            </a:r>
          </a:p>
          <a:p>
            <a:pPr>
              <a:buFont typeface="Arial" panose="020B0604020202020204" pitchFamily="34" charset="0"/>
              <a:buChar char="•"/>
            </a:pPr>
            <a:r>
              <a:rPr lang="en-US" dirty="0"/>
              <a:t>No complaints</a:t>
            </a:r>
          </a:p>
        </p:txBody>
      </p:sp>
      <p:sp>
        <p:nvSpPr>
          <p:cNvPr id="9" name="TextBox 8">
            <a:extLst>
              <a:ext uri="{FF2B5EF4-FFF2-40B4-BE49-F238E27FC236}">
                <a16:creationId xmlns:a16="http://schemas.microsoft.com/office/drawing/2014/main" id="{E8F1861B-A113-6896-D018-CA77B409AD86}"/>
              </a:ext>
            </a:extLst>
          </p:cNvPr>
          <p:cNvSpPr txBox="1"/>
          <p:nvPr/>
        </p:nvSpPr>
        <p:spPr>
          <a:xfrm>
            <a:off x="654393" y="4803262"/>
            <a:ext cx="6100010" cy="1477328"/>
          </a:xfrm>
          <a:prstGeom prst="rect">
            <a:avLst/>
          </a:prstGeom>
          <a:noFill/>
        </p:spPr>
        <p:txBody>
          <a:bodyPr wrap="square">
            <a:spAutoFit/>
          </a:bodyPr>
          <a:lstStyle/>
          <a:p>
            <a:pPr>
              <a:buNone/>
            </a:pPr>
            <a:r>
              <a:rPr lang="en-US" dirty="0"/>
              <a:t>You announce a </a:t>
            </a:r>
            <a:r>
              <a:rPr lang="en-US" b="1" dirty="0"/>
              <a:t>Flash Sale</a:t>
            </a:r>
            <a:r>
              <a:rPr lang="en-US" dirty="0"/>
              <a:t>.</a:t>
            </a:r>
          </a:p>
          <a:p>
            <a:pPr>
              <a:buNone/>
            </a:pPr>
            <a:r>
              <a:rPr lang="en-US" dirty="0"/>
              <a:t>Now:</a:t>
            </a:r>
          </a:p>
          <a:p>
            <a:pPr>
              <a:buFont typeface="Arial" panose="020B0604020202020204" pitchFamily="34" charset="0"/>
              <a:buChar char="•"/>
            </a:pPr>
            <a:r>
              <a:rPr lang="en-US" dirty="0"/>
              <a:t>50,000 users come within </a:t>
            </a:r>
            <a:r>
              <a:rPr lang="en-US" b="1" dirty="0"/>
              <a:t>10 minutes</a:t>
            </a:r>
            <a:endParaRPr lang="en-US" dirty="0"/>
          </a:p>
          <a:p>
            <a:pPr>
              <a:buFont typeface="Arial" panose="020B0604020202020204" pitchFamily="34" charset="0"/>
              <a:buChar char="•"/>
            </a:pPr>
            <a:r>
              <a:rPr lang="en-US" dirty="0"/>
              <a:t>Everyone opens product pages</a:t>
            </a:r>
          </a:p>
          <a:p>
            <a:pPr>
              <a:buFont typeface="Arial" panose="020B0604020202020204" pitchFamily="34" charset="0"/>
              <a:buChar char="•"/>
            </a:pPr>
            <a:r>
              <a:rPr lang="en-US" dirty="0"/>
              <a:t>Thousands try to checkout simultaneously</a:t>
            </a:r>
          </a:p>
        </p:txBody>
      </p:sp>
      <p:sp>
        <p:nvSpPr>
          <p:cNvPr id="11" name="TextBox 10">
            <a:extLst>
              <a:ext uri="{FF2B5EF4-FFF2-40B4-BE49-F238E27FC236}">
                <a16:creationId xmlns:a16="http://schemas.microsoft.com/office/drawing/2014/main" id="{F68E63E6-9EA0-2714-26C9-E078D3A202A0}"/>
              </a:ext>
            </a:extLst>
          </p:cNvPr>
          <p:cNvSpPr txBox="1"/>
          <p:nvPr/>
        </p:nvSpPr>
        <p:spPr>
          <a:xfrm>
            <a:off x="6766434" y="1520805"/>
            <a:ext cx="2195763" cy="369332"/>
          </a:xfrm>
          <a:prstGeom prst="rect">
            <a:avLst/>
          </a:prstGeom>
          <a:noFill/>
        </p:spPr>
        <p:txBody>
          <a:bodyPr wrap="square">
            <a:spAutoFit/>
          </a:bodyPr>
          <a:lstStyle/>
          <a:p>
            <a:r>
              <a:rPr lang="en-IN" b="1" dirty="0"/>
              <a:t>Problems Observed</a:t>
            </a:r>
          </a:p>
        </p:txBody>
      </p:sp>
      <p:sp>
        <p:nvSpPr>
          <p:cNvPr id="14" name="TextBox 13">
            <a:extLst>
              <a:ext uri="{FF2B5EF4-FFF2-40B4-BE49-F238E27FC236}">
                <a16:creationId xmlns:a16="http://schemas.microsoft.com/office/drawing/2014/main" id="{0E671392-D968-3FAF-CCA5-E8678222802C}"/>
              </a:ext>
            </a:extLst>
          </p:cNvPr>
          <p:cNvSpPr txBox="1"/>
          <p:nvPr/>
        </p:nvSpPr>
        <p:spPr>
          <a:xfrm>
            <a:off x="6754403" y="1791899"/>
            <a:ext cx="3054343" cy="1477328"/>
          </a:xfrm>
          <a:prstGeom prst="rect">
            <a:avLst/>
          </a:prstGeom>
          <a:noFill/>
        </p:spPr>
        <p:txBody>
          <a:bodyPr wrap="square">
            <a:spAutoFit/>
          </a:bodyPr>
          <a:lstStyle/>
          <a:p>
            <a:pPr>
              <a:buNone/>
            </a:pPr>
            <a:endParaRPr lang="en-US" b="1" dirty="0"/>
          </a:p>
          <a:p>
            <a:pPr>
              <a:buFont typeface="+mj-lt"/>
              <a:buAutoNum type="arabicPeriod"/>
            </a:pPr>
            <a:r>
              <a:rPr lang="en-US" dirty="0"/>
              <a:t>Product pages load slowly</a:t>
            </a:r>
          </a:p>
          <a:p>
            <a:pPr>
              <a:buFont typeface="+mj-lt"/>
              <a:buAutoNum type="arabicPeriod"/>
            </a:pPr>
            <a:r>
              <a:rPr lang="en-US" dirty="0"/>
              <a:t>Checkout requests time out</a:t>
            </a:r>
          </a:p>
          <a:p>
            <a:pPr>
              <a:buFont typeface="+mj-lt"/>
              <a:buAutoNum type="arabicPeriod"/>
            </a:pPr>
            <a:r>
              <a:rPr lang="en-US" dirty="0"/>
              <a:t>Database CPU hits 100%</a:t>
            </a:r>
          </a:p>
          <a:p>
            <a:pPr>
              <a:buFont typeface="+mj-lt"/>
              <a:buAutoNum type="arabicPeriod"/>
            </a:pPr>
            <a:r>
              <a:rPr lang="en-US" dirty="0"/>
              <a:t>Server crashes</a:t>
            </a:r>
          </a:p>
        </p:txBody>
      </p:sp>
      <p:sp>
        <p:nvSpPr>
          <p:cNvPr id="16" name="TextBox 15">
            <a:extLst>
              <a:ext uri="{FF2B5EF4-FFF2-40B4-BE49-F238E27FC236}">
                <a16:creationId xmlns:a16="http://schemas.microsoft.com/office/drawing/2014/main" id="{56FFD2C5-CEB7-14DF-83C7-51544D53B90C}"/>
              </a:ext>
            </a:extLst>
          </p:cNvPr>
          <p:cNvSpPr txBox="1"/>
          <p:nvPr/>
        </p:nvSpPr>
        <p:spPr>
          <a:xfrm>
            <a:off x="6754403" y="3346699"/>
            <a:ext cx="4890837" cy="1200329"/>
          </a:xfrm>
          <a:prstGeom prst="rect">
            <a:avLst/>
          </a:prstGeom>
          <a:noFill/>
        </p:spPr>
        <p:txBody>
          <a:bodyPr wrap="square">
            <a:spAutoFit/>
          </a:bodyPr>
          <a:lstStyle/>
          <a:p>
            <a:pPr>
              <a:buNone/>
            </a:pPr>
            <a:r>
              <a:rPr lang="en-US" b="1" dirty="0"/>
              <a:t>Root Cause</a:t>
            </a:r>
          </a:p>
          <a:p>
            <a:pPr>
              <a:buNone/>
            </a:pPr>
            <a:r>
              <a:rPr lang="en-US" dirty="0"/>
              <a:t>The system was </a:t>
            </a:r>
            <a:r>
              <a:rPr lang="en-US" b="1" dirty="0"/>
              <a:t>never designed to handle this load</a:t>
            </a:r>
            <a:r>
              <a:rPr lang="en-US" dirty="0"/>
              <a:t>. </a:t>
            </a:r>
            <a:br>
              <a:rPr lang="en-US" dirty="0"/>
            </a:br>
            <a:r>
              <a:rPr lang="en-US" dirty="0"/>
              <a:t>Here comes the </a:t>
            </a:r>
            <a:r>
              <a:rPr lang="en-US" b="1" dirty="0"/>
              <a:t>scalability</a:t>
            </a:r>
            <a:r>
              <a:rPr lang="en-US" dirty="0"/>
              <a:t> factor</a:t>
            </a:r>
          </a:p>
        </p:txBody>
      </p:sp>
      <p:sp>
        <p:nvSpPr>
          <p:cNvPr id="18" name="TextBox 17">
            <a:extLst>
              <a:ext uri="{FF2B5EF4-FFF2-40B4-BE49-F238E27FC236}">
                <a16:creationId xmlns:a16="http://schemas.microsoft.com/office/drawing/2014/main" id="{9A1FBF82-9F09-0859-3FF6-511B4B744C46}"/>
              </a:ext>
            </a:extLst>
          </p:cNvPr>
          <p:cNvSpPr txBox="1"/>
          <p:nvPr/>
        </p:nvSpPr>
        <p:spPr>
          <a:xfrm>
            <a:off x="6646770" y="5260201"/>
            <a:ext cx="4890837" cy="923330"/>
          </a:xfrm>
          <a:prstGeom prst="rect">
            <a:avLst/>
          </a:prstGeom>
          <a:noFill/>
        </p:spPr>
        <p:txBody>
          <a:bodyPr wrap="square">
            <a:spAutoFit/>
          </a:bodyPr>
          <a:lstStyle/>
          <a:p>
            <a:r>
              <a:rPr lang="en-US" dirty="0"/>
              <a:t>Scalability is the ability of a system to handle increasing workload by adding resources, without degrading performance.</a:t>
            </a:r>
            <a:endParaRPr lang="en-IN" dirty="0"/>
          </a:p>
        </p:txBody>
      </p:sp>
      <p:sp>
        <p:nvSpPr>
          <p:cNvPr id="20" name="TextBox 19">
            <a:extLst>
              <a:ext uri="{FF2B5EF4-FFF2-40B4-BE49-F238E27FC236}">
                <a16:creationId xmlns:a16="http://schemas.microsoft.com/office/drawing/2014/main" id="{EA2D0A6B-B0A0-ACBE-6150-AFAB9B282B2A}"/>
              </a:ext>
            </a:extLst>
          </p:cNvPr>
          <p:cNvSpPr txBox="1"/>
          <p:nvPr/>
        </p:nvSpPr>
        <p:spPr>
          <a:xfrm>
            <a:off x="6646770" y="4785816"/>
            <a:ext cx="2797342" cy="369332"/>
          </a:xfrm>
          <a:prstGeom prst="rect">
            <a:avLst/>
          </a:prstGeom>
          <a:noFill/>
        </p:spPr>
        <p:txBody>
          <a:bodyPr wrap="square">
            <a:spAutoFit/>
          </a:bodyPr>
          <a:lstStyle/>
          <a:p>
            <a:r>
              <a:rPr lang="en-IN" b="1" dirty="0"/>
              <a:t>What Is Scalability?</a:t>
            </a:r>
          </a:p>
        </p:txBody>
      </p:sp>
    </p:spTree>
    <p:extLst>
      <p:ext uri="{BB962C8B-B14F-4D97-AF65-F5344CB8AC3E}">
        <p14:creationId xmlns:p14="http://schemas.microsoft.com/office/powerpoint/2010/main" val="10785273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54D06-7215-631C-CA81-F029CDCE00F2}"/>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BF1472E2-F06C-A183-6304-50ECB1F80028}"/>
              </a:ext>
            </a:extLst>
          </p:cNvPr>
          <p:cNvSpPr>
            <a:spLocks noGrp="1"/>
          </p:cNvSpPr>
          <p:nvPr>
            <p:ph type="title"/>
          </p:nvPr>
        </p:nvSpPr>
        <p:spPr>
          <a:xfrm>
            <a:off x="654393" y="987572"/>
            <a:ext cx="10515600" cy="533233"/>
          </a:xfrm>
        </p:spPr>
        <p:txBody>
          <a:bodyPr>
            <a:normAutofit fontScale="90000"/>
          </a:bodyPr>
          <a:lstStyle/>
          <a:p>
            <a:r>
              <a:rPr lang="en-US" b="1" dirty="0"/>
              <a:t>Scalability</a:t>
            </a:r>
            <a:endParaRPr lang="en-IN" b="1" dirty="0"/>
          </a:p>
        </p:txBody>
      </p:sp>
      <p:sp>
        <p:nvSpPr>
          <p:cNvPr id="2" name="Google Shape;113;p2">
            <a:extLst>
              <a:ext uri="{FF2B5EF4-FFF2-40B4-BE49-F238E27FC236}">
                <a16:creationId xmlns:a16="http://schemas.microsoft.com/office/drawing/2014/main" id="{C015E137-D99A-CCCA-2766-CED8C7583476}"/>
              </a:ext>
            </a:extLst>
          </p:cNvPr>
          <p:cNvSpPr txBox="1"/>
          <p:nvPr/>
        </p:nvSpPr>
        <p:spPr>
          <a:xfrm>
            <a:off x="849428" y="1621107"/>
            <a:ext cx="10166915" cy="3616334"/>
          </a:xfrm>
          <a:prstGeom prst="rect">
            <a:avLst/>
          </a:prstGeom>
          <a:noFill/>
          <a:ln>
            <a:noFill/>
          </a:ln>
        </p:spPr>
        <p:txBody>
          <a:bodyPr spcFirstLastPara="1" wrap="square" lIns="91425" tIns="45700" rIns="91425" bIns="45700" anchor="t" anchorCtr="0">
            <a:spAutoFit/>
          </a:bodyPr>
          <a:lstStyle/>
          <a:p>
            <a:r>
              <a:rPr lang="en-IN" sz="1600" dirty="0"/>
              <a:t>A scalable system can:</a:t>
            </a:r>
          </a:p>
          <a:p>
            <a:pPr marL="285750" indent="-285750">
              <a:buFont typeface="Arial" panose="020B0604020202020204" pitchFamily="34" charset="0"/>
              <a:buChar char="•"/>
            </a:pPr>
            <a:r>
              <a:rPr lang="en-IN" sz="1600" dirty="0"/>
              <a:t>Support a growing number of users</a:t>
            </a:r>
          </a:p>
          <a:p>
            <a:pPr marL="285750" indent="-285750">
              <a:buFont typeface="Arial" panose="020B0604020202020204" pitchFamily="34" charset="0"/>
              <a:buChar char="•"/>
            </a:pPr>
            <a:r>
              <a:rPr lang="en-IN" sz="1600" dirty="0"/>
              <a:t>Process more requests</a:t>
            </a:r>
          </a:p>
          <a:p>
            <a:pPr marL="285750" indent="-285750">
              <a:buFont typeface="Arial" panose="020B0604020202020204" pitchFamily="34" charset="0"/>
              <a:buChar char="•"/>
            </a:pPr>
            <a:r>
              <a:rPr lang="en-IN" sz="1600" dirty="0"/>
              <a:t>Manage increasing amounts of data</a:t>
            </a:r>
            <a:br>
              <a:rPr lang="en-IN" sz="1600" dirty="0"/>
            </a:br>
            <a:r>
              <a:rPr lang="en-IN" sz="1600" b="1" dirty="0"/>
              <a:t>without system failure or slowdown</a:t>
            </a:r>
          </a:p>
          <a:p>
            <a:endParaRPr lang="en-IN" sz="1600" dirty="0"/>
          </a:p>
          <a:p>
            <a:r>
              <a:rPr lang="en-IN" sz="1600" b="1" dirty="0"/>
              <a:t>In simple terms:</a:t>
            </a:r>
            <a:br>
              <a:rPr lang="en-IN" sz="1600" dirty="0"/>
            </a:br>
            <a:r>
              <a:rPr lang="en-IN" sz="1600" dirty="0"/>
              <a:t>Scalability means </a:t>
            </a:r>
            <a:r>
              <a:rPr lang="en-IN" sz="1600" i="1" dirty="0"/>
              <a:t>the </a:t>
            </a:r>
            <a:r>
              <a:rPr lang="en-IN" sz="1600" b="1" i="1" dirty="0"/>
              <a:t>system grows smoothly as demand increases</a:t>
            </a:r>
            <a:r>
              <a:rPr lang="en-IN" sz="1600" dirty="0"/>
              <a:t>. </a:t>
            </a:r>
          </a:p>
          <a:p>
            <a:r>
              <a:rPr lang="en-IN" sz="1600" dirty="0"/>
              <a:t>OR</a:t>
            </a:r>
          </a:p>
          <a:p>
            <a:r>
              <a:rPr lang="en-US" sz="1600" b="1" dirty="0"/>
              <a:t>Can my system grow when users grow?</a:t>
            </a:r>
            <a:endParaRPr lang="en-IN" sz="1600" b="1" dirty="0"/>
          </a:p>
          <a:p>
            <a:endParaRPr lang="en-IN" sz="1500" dirty="0"/>
          </a:p>
          <a:p>
            <a:br>
              <a:rPr lang="en-IN" dirty="0"/>
            </a:br>
            <a:endParaRPr lang="en-IN" dirty="0"/>
          </a:p>
          <a:p>
            <a:pPr fontAlgn="base"/>
            <a:endParaRPr lang="en-IN" dirty="0"/>
          </a:p>
        </p:txBody>
      </p:sp>
      <p:sp>
        <p:nvSpPr>
          <p:cNvPr id="5" name="TextBox 4">
            <a:extLst>
              <a:ext uri="{FF2B5EF4-FFF2-40B4-BE49-F238E27FC236}">
                <a16:creationId xmlns:a16="http://schemas.microsoft.com/office/drawing/2014/main" id="{94FBB6A1-31D2-245B-DEC1-5C8BAFFFE087}"/>
              </a:ext>
            </a:extLst>
          </p:cNvPr>
          <p:cNvSpPr txBox="1"/>
          <p:nvPr/>
        </p:nvSpPr>
        <p:spPr>
          <a:xfrm>
            <a:off x="849428" y="4670099"/>
            <a:ext cx="3504858" cy="1477328"/>
          </a:xfrm>
          <a:prstGeom prst="rect">
            <a:avLst/>
          </a:prstGeom>
          <a:noFill/>
        </p:spPr>
        <p:txBody>
          <a:bodyPr wrap="square">
            <a:spAutoFit/>
          </a:bodyPr>
          <a:lstStyle/>
          <a:p>
            <a:pPr>
              <a:buNone/>
            </a:pPr>
            <a:r>
              <a:rPr lang="en-IN" b="1" dirty="0"/>
              <a:t>Non-Scalable System</a:t>
            </a:r>
          </a:p>
          <a:p>
            <a:pPr>
              <a:buFont typeface="Arial" panose="020B0604020202020204" pitchFamily="34" charset="0"/>
              <a:buChar char="•"/>
            </a:pPr>
            <a:r>
              <a:rPr lang="en-IN" dirty="0"/>
              <a:t>1 server handles max </a:t>
            </a:r>
            <a:r>
              <a:rPr lang="en-IN" b="1" dirty="0"/>
              <a:t>1,000 users (Kind of Monolithic architecture)</a:t>
            </a:r>
            <a:endParaRPr lang="en-IN" dirty="0"/>
          </a:p>
          <a:p>
            <a:pPr>
              <a:buFont typeface="Arial" panose="020B0604020202020204" pitchFamily="34" charset="0"/>
              <a:buChar char="•"/>
            </a:pPr>
            <a:r>
              <a:rPr lang="en-IN" dirty="0"/>
              <a:t>10,000 users come</a:t>
            </a:r>
          </a:p>
          <a:p>
            <a:pPr>
              <a:buFont typeface="Arial" panose="020B0604020202020204" pitchFamily="34" charset="0"/>
              <a:buChar char="•"/>
            </a:pPr>
            <a:r>
              <a:rPr lang="en-IN" dirty="0"/>
              <a:t>System crashes</a:t>
            </a:r>
          </a:p>
        </p:txBody>
      </p:sp>
      <p:sp>
        <p:nvSpPr>
          <p:cNvPr id="10" name="TextBox 9">
            <a:extLst>
              <a:ext uri="{FF2B5EF4-FFF2-40B4-BE49-F238E27FC236}">
                <a16:creationId xmlns:a16="http://schemas.microsoft.com/office/drawing/2014/main" id="{5E2C90CA-32B6-C1D9-07D1-77C833D1D762}"/>
              </a:ext>
            </a:extLst>
          </p:cNvPr>
          <p:cNvSpPr txBox="1"/>
          <p:nvPr/>
        </p:nvSpPr>
        <p:spPr>
          <a:xfrm>
            <a:off x="6858000" y="4670099"/>
            <a:ext cx="3744686" cy="1477328"/>
          </a:xfrm>
          <a:prstGeom prst="rect">
            <a:avLst/>
          </a:prstGeom>
          <a:noFill/>
        </p:spPr>
        <p:txBody>
          <a:bodyPr wrap="square">
            <a:spAutoFit/>
          </a:bodyPr>
          <a:lstStyle/>
          <a:p>
            <a:pPr>
              <a:buNone/>
            </a:pPr>
            <a:r>
              <a:rPr lang="en-US" b="1" dirty="0"/>
              <a:t>Scalable System </a:t>
            </a:r>
          </a:p>
          <a:p>
            <a:pPr>
              <a:buFont typeface="Arial" panose="020B0604020202020204" pitchFamily="34" charset="0"/>
              <a:buChar char="•"/>
            </a:pPr>
            <a:r>
              <a:rPr lang="en-US" dirty="0"/>
              <a:t>Add more servers (Kind of distributed architecture)</a:t>
            </a:r>
          </a:p>
          <a:p>
            <a:pPr>
              <a:buFont typeface="Arial" panose="020B0604020202020204" pitchFamily="34" charset="0"/>
              <a:buChar char="•"/>
            </a:pPr>
            <a:r>
              <a:rPr lang="en-US" dirty="0"/>
              <a:t>Load is distributed</a:t>
            </a:r>
          </a:p>
          <a:p>
            <a:pPr>
              <a:buFont typeface="Arial" panose="020B0604020202020204" pitchFamily="34" charset="0"/>
              <a:buChar char="•"/>
            </a:pPr>
            <a:r>
              <a:rPr lang="en-US" dirty="0"/>
              <a:t>System keeps working</a:t>
            </a:r>
          </a:p>
        </p:txBody>
      </p:sp>
    </p:spTree>
    <p:extLst>
      <p:ext uri="{BB962C8B-B14F-4D97-AF65-F5344CB8AC3E}">
        <p14:creationId xmlns:p14="http://schemas.microsoft.com/office/powerpoint/2010/main" val="4617154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72125-03EE-FAFD-4B07-25F5C19BA9A9}"/>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C28A8D7F-A819-D3A2-18AE-5108E91DB273}"/>
              </a:ext>
            </a:extLst>
          </p:cNvPr>
          <p:cNvSpPr>
            <a:spLocks noGrp="1"/>
          </p:cNvSpPr>
          <p:nvPr>
            <p:ph type="title"/>
          </p:nvPr>
        </p:nvSpPr>
        <p:spPr>
          <a:xfrm>
            <a:off x="654393" y="987572"/>
            <a:ext cx="10515600" cy="533233"/>
          </a:xfrm>
        </p:spPr>
        <p:txBody>
          <a:bodyPr>
            <a:normAutofit fontScale="90000"/>
          </a:bodyPr>
          <a:lstStyle/>
          <a:p>
            <a:r>
              <a:rPr lang="en-US" b="1" dirty="0"/>
              <a:t>Scalability</a:t>
            </a:r>
            <a:endParaRPr lang="en-IN" b="1" dirty="0"/>
          </a:p>
        </p:txBody>
      </p:sp>
      <p:sp>
        <p:nvSpPr>
          <p:cNvPr id="3" name="Google Shape;113;p2">
            <a:extLst>
              <a:ext uri="{FF2B5EF4-FFF2-40B4-BE49-F238E27FC236}">
                <a16:creationId xmlns:a16="http://schemas.microsoft.com/office/drawing/2014/main" id="{20677AE4-6640-2BD5-E8F1-C4DC4F129687}"/>
              </a:ext>
            </a:extLst>
          </p:cNvPr>
          <p:cNvSpPr txBox="1"/>
          <p:nvPr/>
        </p:nvSpPr>
        <p:spPr>
          <a:xfrm>
            <a:off x="849428" y="1946317"/>
            <a:ext cx="9013029" cy="3924111"/>
          </a:xfrm>
          <a:prstGeom prst="rect">
            <a:avLst/>
          </a:prstGeom>
          <a:noFill/>
          <a:ln>
            <a:noFill/>
          </a:ln>
        </p:spPr>
        <p:txBody>
          <a:bodyPr spcFirstLastPara="1" wrap="square" lIns="91425" tIns="45700" rIns="91425" bIns="45700" anchor="t" anchorCtr="0">
            <a:spAutoFit/>
          </a:bodyPr>
          <a:lstStyle/>
          <a:p>
            <a:r>
              <a:rPr lang="en-IN" sz="1600" dirty="0"/>
              <a:t>Modern applications grow very fast. A system that works well today may fail tomorrow if it is not scalable.</a:t>
            </a:r>
          </a:p>
          <a:p>
            <a:endParaRPr lang="en-IN" sz="1600" dirty="0"/>
          </a:p>
          <a:p>
            <a:r>
              <a:rPr lang="en-IN" sz="1600" dirty="0"/>
              <a:t>Scalability is important because:</a:t>
            </a:r>
          </a:p>
          <a:p>
            <a:pPr marL="285750" indent="-285750">
              <a:buFont typeface="Arial" panose="020B0604020202020204" pitchFamily="34" charset="0"/>
              <a:buChar char="•"/>
            </a:pPr>
            <a:r>
              <a:rPr lang="en-IN" sz="1600" dirty="0"/>
              <a:t>User traffic increases over time</a:t>
            </a:r>
          </a:p>
          <a:p>
            <a:pPr marL="285750" indent="-285750">
              <a:buFont typeface="Arial" panose="020B0604020202020204" pitchFamily="34" charset="0"/>
              <a:buChar char="•"/>
            </a:pPr>
            <a:r>
              <a:rPr lang="en-IN" sz="1600" dirty="0"/>
              <a:t>Business expands to new regions</a:t>
            </a:r>
          </a:p>
          <a:p>
            <a:pPr marL="285750" indent="-285750">
              <a:buFont typeface="Arial" panose="020B0604020202020204" pitchFamily="34" charset="0"/>
              <a:buChar char="•"/>
            </a:pPr>
            <a:r>
              <a:rPr lang="en-IN" sz="1600" dirty="0"/>
              <a:t>Data volume grows continuously</a:t>
            </a:r>
          </a:p>
          <a:p>
            <a:pPr marL="285750" indent="-285750">
              <a:buFont typeface="Arial" panose="020B0604020202020204" pitchFamily="34" charset="0"/>
              <a:buChar char="•"/>
            </a:pPr>
            <a:r>
              <a:rPr lang="en-IN" sz="1600" dirty="0"/>
              <a:t>Peak usage occurs during special events</a:t>
            </a:r>
          </a:p>
          <a:p>
            <a:r>
              <a:rPr lang="en-IN" sz="1600" b="1" dirty="0"/>
              <a:t>Without scalability:</a:t>
            </a:r>
            <a:endParaRPr lang="en-IN" sz="1600" dirty="0"/>
          </a:p>
          <a:p>
            <a:pPr marL="285750" indent="-285750">
              <a:buFont typeface="Arial" panose="020B0604020202020204" pitchFamily="34" charset="0"/>
              <a:buChar char="•"/>
            </a:pPr>
            <a:r>
              <a:rPr lang="en-IN" sz="1600" dirty="0"/>
              <a:t>Response time becomes slow</a:t>
            </a:r>
          </a:p>
          <a:p>
            <a:pPr marL="285750" indent="-285750">
              <a:buFont typeface="Arial" panose="020B0604020202020204" pitchFamily="34" charset="0"/>
              <a:buChar char="•"/>
            </a:pPr>
            <a:r>
              <a:rPr lang="en-IN" sz="1600" dirty="0"/>
              <a:t>Servers crash under heavy load</a:t>
            </a:r>
          </a:p>
          <a:p>
            <a:pPr marL="285750" indent="-285750">
              <a:buFont typeface="Arial" panose="020B0604020202020204" pitchFamily="34" charset="0"/>
              <a:buChar char="•"/>
            </a:pPr>
            <a:r>
              <a:rPr lang="en-IN" sz="1600" dirty="0"/>
              <a:t>Users face service disruption</a:t>
            </a:r>
          </a:p>
          <a:p>
            <a:endParaRPr lang="en-IN" sz="1500" dirty="0"/>
          </a:p>
          <a:p>
            <a:br>
              <a:rPr lang="en-IN" dirty="0"/>
            </a:br>
            <a:endParaRPr lang="en-IN" dirty="0"/>
          </a:p>
          <a:p>
            <a:pPr fontAlgn="base"/>
            <a:endParaRPr lang="en-IN" dirty="0"/>
          </a:p>
        </p:txBody>
      </p:sp>
    </p:spTree>
    <p:extLst>
      <p:ext uri="{BB962C8B-B14F-4D97-AF65-F5344CB8AC3E}">
        <p14:creationId xmlns:p14="http://schemas.microsoft.com/office/powerpoint/2010/main" val="16959264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0C5D8-A123-0FA4-3149-00163ED34B03}"/>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6D264ED9-848E-C058-2A32-C9121261B7ED}"/>
              </a:ext>
            </a:extLst>
          </p:cNvPr>
          <p:cNvSpPr>
            <a:spLocks noGrp="1"/>
          </p:cNvSpPr>
          <p:nvPr>
            <p:ph type="title"/>
          </p:nvPr>
        </p:nvSpPr>
        <p:spPr>
          <a:xfrm>
            <a:off x="654393" y="987572"/>
            <a:ext cx="10515600" cy="533233"/>
          </a:xfrm>
        </p:spPr>
        <p:txBody>
          <a:bodyPr>
            <a:normAutofit fontScale="90000"/>
          </a:bodyPr>
          <a:lstStyle/>
          <a:p>
            <a:r>
              <a:rPr lang="en-US" b="1" dirty="0"/>
              <a:t>Scalability</a:t>
            </a:r>
            <a:endParaRPr lang="en-IN" b="1" dirty="0"/>
          </a:p>
        </p:txBody>
      </p:sp>
      <p:sp>
        <p:nvSpPr>
          <p:cNvPr id="2" name="Google Shape;113;p2">
            <a:extLst>
              <a:ext uri="{FF2B5EF4-FFF2-40B4-BE49-F238E27FC236}">
                <a16:creationId xmlns:a16="http://schemas.microsoft.com/office/drawing/2014/main" id="{03A4CC05-A615-9118-0960-008A167AF528}"/>
              </a:ext>
            </a:extLst>
          </p:cNvPr>
          <p:cNvSpPr txBox="1"/>
          <p:nvPr/>
        </p:nvSpPr>
        <p:spPr>
          <a:xfrm>
            <a:off x="654393" y="1742177"/>
            <a:ext cx="7374973" cy="3924111"/>
          </a:xfrm>
          <a:prstGeom prst="rect">
            <a:avLst/>
          </a:prstGeom>
          <a:noFill/>
          <a:ln>
            <a:noFill/>
          </a:ln>
        </p:spPr>
        <p:txBody>
          <a:bodyPr spcFirstLastPara="1" wrap="square" lIns="91425" tIns="45700" rIns="91425" bIns="45700" anchor="t" anchorCtr="0">
            <a:spAutoFit/>
          </a:bodyPr>
          <a:lstStyle/>
          <a:p>
            <a:r>
              <a:rPr lang="en-IN" sz="1600" b="1" dirty="0"/>
              <a:t>Example: Online Ticket Booking System</a:t>
            </a:r>
            <a:endParaRPr lang="en-IN" sz="1600" dirty="0"/>
          </a:p>
          <a:p>
            <a:pPr marL="285750" indent="-285750">
              <a:buFont typeface="Arial" panose="020B0604020202020204" pitchFamily="34" charset="0"/>
              <a:buChar char="•"/>
            </a:pPr>
            <a:r>
              <a:rPr lang="en-IN" sz="1600" dirty="0"/>
              <a:t>On normal days: few hundred users</a:t>
            </a:r>
          </a:p>
          <a:p>
            <a:pPr marL="285750" indent="-285750">
              <a:buFont typeface="Arial" panose="020B0604020202020204" pitchFamily="34" charset="0"/>
              <a:buChar char="•"/>
            </a:pPr>
            <a:r>
              <a:rPr lang="en-IN" sz="1600" dirty="0"/>
              <a:t>On festival days: millions of users</a:t>
            </a:r>
          </a:p>
          <a:p>
            <a:endParaRPr lang="en-IN" sz="1600" dirty="0"/>
          </a:p>
          <a:p>
            <a:r>
              <a:rPr lang="en-IN" sz="1600" dirty="0"/>
              <a:t>If the system is scalable:</a:t>
            </a:r>
          </a:p>
          <a:p>
            <a:pPr marL="285750" indent="-285750">
              <a:buFont typeface="Arial" panose="020B0604020202020204" pitchFamily="34" charset="0"/>
              <a:buChar char="•"/>
            </a:pPr>
            <a:r>
              <a:rPr lang="en-IN" sz="1600" dirty="0"/>
              <a:t>It handles sudden traffic spikes</a:t>
            </a:r>
          </a:p>
          <a:p>
            <a:pPr marL="285750" indent="-285750">
              <a:buFont typeface="Arial" panose="020B0604020202020204" pitchFamily="34" charset="0"/>
              <a:buChar char="•"/>
            </a:pPr>
            <a:r>
              <a:rPr lang="en-IN" sz="1600" dirty="0"/>
              <a:t>Users can book tickets smoothly</a:t>
            </a:r>
          </a:p>
          <a:p>
            <a:endParaRPr lang="en-IN" sz="1600" dirty="0"/>
          </a:p>
          <a:p>
            <a:r>
              <a:rPr lang="en-IN" sz="1600" dirty="0"/>
              <a:t>If not scalable:</a:t>
            </a:r>
          </a:p>
          <a:p>
            <a:pPr marL="285750" indent="-285750">
              <a:buFont typeface="Arial" panose="020B0604020202020204" pitchFamily="34" charset="0"/>
              <a:buChar char="•"/>
            </a:pPr>
            <a:r>
              <a:rPr lang="en-IN" sz="1600" dirty="0"/>
              <a:t>Website crashes</a:t>
            </a:r>
          </a:p>
          <a:p>
            <a:pPr marL="285750" indent="-285750">
              <a:buFont typeface="Arial" panose="020B0604020202020204" pitchFamily="34" charset="0"/>
              <a:buChar char="•"/>
            </a:pPr>
            <a:r>
              <a:rPr lang="en-IN" sz="1600" dirty="0"/>
              <a:t>Transactions fail</a:t>
            </a:r>
          </a:p>
          <a:p>
            <a:pPr marL="285750" indent="-285750">
              <a:buFont typeface="Arial" panose="020B0604020202020204" pitchFamily="34" charset="0"/>
              <a:buChar char="•"/>
            </a:pPr>
            <a:r>
              <a:rPr lang="en-IN" sz="1600" dirty="0"/>
              <a:t>Business loses revenue</a:t>
            </a:r>
          </a:p>
          <a:p>
            <a:endParaRPr lang="en-IN" sz="1500" dirty="0"/>
          </a:p>
          <a:p>
            <a:br>
              <a:rPr lang="en-IN" dirty="0"/>
            </a:br>
            <a:endParaRPr lang="en-IN" dirty="0"/>
          </a:p>
          <a:p>
            <a:pPr fontAlgn="base"/>
            <a:endParaRPr lang="en-IN" dirty="0"/>
          </a:p>
        </p:txBody>
      </p:sp>
    </p:spTree>
    <p:extLst>
      <p:ext uri="{BB962C8B-B14F-4D97-AF65-F5344CB8AC3E}">
        <p14:creationId xmlns:p14="http://schemas.microsoft.com/office/powerpoint/2010/main" val="31792544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5C5DB-673D-618E-F94A-47325E73C14B}"/>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EE25AC1F-3DE5-08C4-8D4F-25DDAD917852}"/>
              </a:ext>
            </a:extLst>
          </p:cNvPr>
          <p:cNvSpPr>
            <a:spLocks noGrp="1"/>
          </p:cNvSpPr>
          <p:nvPr>
            <p:ph type="title"/>
          </p:nvPr>
        </p:nvSpPr>
        <p:spPr>
          <a:xfrm>
            <a:off x="654393" y="987572"/>
            <a:ext cx="10515600" cy="533233"/>
          </a:xfrm>
        </p:spPr>
        <p:txBody>
          <a:bodyPr>
            <a:normAutofit fontScale="90000"/>
          </a:bodyPr>
          <a:lstStyle/>
          <a:p>
            <a:r>
              <a:rPr lang="en-US" b="1" dirty="0"/>
              <a:t>Scalability – Key Pointers</a:t>
            </a:r>
            <a:endParaRPr lang="en-IN" b="1" dirty="0"/>
          </a:p>
        </p:txBody>
      </p:sp>
      <p:sp>
        <p:nvSpPr>
          <p:cNvPr id="3" name="Google Shape;113;p2">
            <a:extLst>
              <a:ext uri="{FF2B5EF4-FFF2-40B4-BE49-F238E27FC236}">
                <a16:creationId xmlns:a16="http://schemas.microsoft.com/office/drawing/2014/main" id="{58096DF9-343A-41CF-E3E8-E809F4D05951}"/>
              </a:ext>
            </a:extLst>
          </p:cNvPr>
          <p:cNvSpPr txBox="1"/>
          <p:nvPr/>
        </p:nvSpPr>
        <p:spPr>
          <a:xfrm>
            <a:off x="654393" y="1916348"/>
            <a:ext cx="7374973" cy="3354724"/>
          </a:xfrm>
          <a:prstGeom prst="rect">
            <a:avLst/>
          </a:prstGeom>
          <a:noFill/>
          <a:ln>
            <a:noFill/>
          </a:ln>
        </p:spPr>
        <p:txBody>
          <a:bodyPr spcFirstLastPara="1" wrap="square" lIns="91425" tIns="45700" rIns="91425" bIns="45700" anchor="t" anchorCtr="0">
            <a:spAutoFit/>
          </a:bodyPr>
          <a:lstStyle/>
          <a:p>
            <a:r>
              <a:rPr lang="en-IN" sz="1600" b="1" dirty="0"/>
              <a:t>A scalable system should:</a:t>
            </a:r>
          </a:p>
          <a:p>
            <a:pPr marL="285750" indent="-285750">
              <a:buFont typeface="Arial" panose="020B0604020202020204" pitchFamily="34" charset="0"/>
              <a:buChar char="•"/>
            </a:pPr>
            <a:r>
              <a:rPr lang="en-IN" sz="1600" dirty="0"/>
              <a:t>Maintain performance as load increases</a:t>
            </a:r>
          </a:p>
          <a:p>
            <a:pPr marL="285750" indent="-285750">
              <a:buFont typeface="Arial" panose="020B0604020202020204" pitchFamily="34" charset="0"/>
              <a:buChar char="•"/>
            </a:pPr>
            <a:r>
              <a:rPr lang="en-IN" sz="1600" dirty="0"/>
              <a:t>Allow easy addition of resources (servers, storage)</a:t>
            </a:r>
          </a:p>
          <a:p>
            <a:pPr marL="285750" indent="-285750">
              <a:buFont typeface="Arial" panose="020B0604020202020204" pitchFamily="34" charset="0"/>
              <a:buChar char="•"/>
            </a:pPr>
            <a:r>
              <a:rPr lang="en-IN" sz="1600" dirty="0"/>
              <a:t>Handle peak traffic efficiently</a:t>
            </a:r>
          </a:p>
          <a:p>
            <a:pPr marL="285750" indent="-285750">
              <a:buFont typeface="Arial" panose="020B0604020202020204" pitchFamily="34" charset="0"/>
              <a:buChar char="•"/>
            </a:pPr>
            <a:r>
              <a:rPr lang="en-IN" sz="1600" dirty="0"/>
              <a:t>Recover gracefully from failures</a:t>
            </a:r>
          </a:p>
          <a:p>
            <a:r>
              <a:rPr lang="en-IN" sz="1600" dirty="0"/>
              <a:t>Scalability is a </a:t>
            </a:r>
            <a:r>
              <a:rPr lang="en-IN" sz="1600" b="1" dirty="0"/>
              <a:t>core goal of system design</a:t>
            </a:r>
            <a:r>
              <a:rPr lang="en-IN" sz="1600" dirty="0"/>
              <a:t>.</a:t>
            </a:r>
          </a:p>
          <a:p>
            <a:endParaRPr lang="en-IN" sz="1600" dirty="0"/>
          </a:p>
          <a:p>
            <a:r>
              <a:rPr lang="en-IN" sz="1600" b="1" dirty="0"/>
              <a:t>Scalability vs Performance (Student Clarity)</a:t>
            </a:r>
          </a:p>
          <a:p>
            <a:pPr marL="285750" indent="-285750">
              <a:buFont typeface="Arial" panose="020B0604020202020204" pitchFamily="34" charset="0"/>
              <a:buChar char="•"/>
            </a:pPr>
            <a:r>
              <a:rPr lang="en-IN" b="1" dirty="0"/>
              <a:t>Performance</a:t>
            </a:r>
            <a:r>
              <a:rPr lang="en-IN" dirty="0"/>
              <a:t> → How fast the system works at a given load</a:t>
            </a:r>
          </a:p>
          <a:p>
            <a:pPr marL="285750" indent="-285750">
              <a:buFont typeface="Arial" panose="020B0604020202020204" pitchFamily="34" charset="0"/>
              <a:buChar char="•"/>
            </a:pPr>
            <a:r>
              <a:rPr lang="en-IN" b="1" dirty="0"/>
              <a:t>Scalability</a:t>
            </a:r>
            <a:r>
              <a:rPr lang="en-IN" dirty="0"/>
              <a:t> → How well the system handles increased load</a:t>
            </a:r>
          </a:p>
          <a:p>
            <a:endParaRPr lang="en-IN" dirty="0"/>
          </a:p>
          <a:p>
            <a:r>
              <a:rPr lang="en-IN" dirty="0"/>
              <a:t>A system can be fast but </a:t>
            </a:r>
            <a:r>
              <a:rPr lang="en-IN" b="1" dirty="0"/>
              <a:t>not scalable</a:t>
            </a:r>
            <a:r>
              <a:rPr lang="en-IN" dirty="0"/>
              <a:t>, and scalable but </a:t>
            </a:r>
            <a:r>
              <a:rPr lang="en-IN" b="1" dirty="0"/>
              <a:t>poorly optimized</a:t>
            </a:r>
            <a:r>
              <a:rPr lang="en-IN" dirty="0"/>
              <a:t>.</a:t>
            </a:r>
          </a:p>
          <a:p>
            <a:endParaRPr lang="en-IN" dirty="0"/>
          </a:p>
          <a:p>
            <a:pPr fontAlgn="base"/>
            <a:endParaRPr lang="en-IN" dirty="0"/>
          </a:p>
        </p:txBody>
      </p:sp>
    </p:spTree>
    <p:extLst>
      <p:ext uri="{BB962C8B-B14F-4D97-AF65-F5344CB8AC3E}">
        <p14:creationId xmlns:p14="http://schemas.microsoft.com/office/powerpoint/2010/main" val="12542001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E0EF2-2217-8B92-BD6F-45F84882A967}"/>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5523F0BF-DF2D-7C36-9EC8-5BDDFEE17934}"/>
              </a:ext>
            </a:extLst>
          </p:cNvPr>
          <p:cNvSpPr>
            <a:spLocks noGrp="1"/>
          </p:cNvSpPr>
          <p:nvPr>
            <p:ph type="title"/>
          </p:nvPr>
        </p:nvSpPr>
        <p:spPr>
          <a:xfrm>
            <a:off x="654393" y="987572"/>
            <a:ext cx="10515600" cy="533233"/>
          </a:xfrm>
        </p:spPr>
        <p:txBody>
          <a:bodyPr>
            <a:normAutofit fontScale="90000"/>
          </a:bodyPr>
          <a:lstStyle/>
          <a:p>
            <a:r>
              <a:rPr lang="en-US" b="1" dirty="0"/>
              <a:t>Scalability – Types</a:t>
            </a:r>
            <a:endParaRPr lang="en-IN" b="1" dirty="0"/>
          </a:p>
        </p:txBody>
      </p:sp>
      <p:pic>
        <p:nvPicPr>
          <p:cNvPr id="4" name="Picture 3">
            <a:extLst>
              <a:ext uri="{FF2B5EF4-FFF2-40B4-BE49-F238E27FC236}">
                <a16:creationId xmlns:a16="http://schemas.microsoft.com/office/drawing/2014/main" id="{6C6A723D-DEF4-F050-3D1E-B9D63D2704CC}"/>
              </a:ext>
            </a:extLst>
          </p:cNvPr>
          <p:cNvPicPr>
            <a:picLocks noChangeAspect="1"/>
          </p:cNvPicPr>
          <p:nvPr/>
        </p:nvPicPr>
        <p:blipFill>
          <a:blip r:embed="rId2"/>
          <a:stretch>
            <a:fillRect/>
          </a:stretch>
        </p:blipFill>
        <p:spPr>
          <a:xfrm>
            <a:off x="654393" y="1520805"/>
            <a:ext cx="10883214" cy="4901766"/>
          </a:xfrm>
          <a:prstGeom prst="rect">
            <a:avLst/>
          </a:prstGeom>
        </p:spPr>
      </p:pic>
      <p:sp>
        <p:nvSpPr>
          <p:cNvPr id="6" name="TextBox 5">
            <a:extLst>
              <a:ext uri="{FF2B5EF4-FFF2-40B4-BE49-F238E27FC236}">
                <a16:creationId xmlns:a16="http://schemas.microsoft.com/office/drawing/2014/main" id="{A37212FB-6CBE-6E00-8FAA-D466849799A1}"/>
              </a:ext>
            </a:extLst>
          </p:cNvPr>
          <p:cNvSpPr txBox="1"/>
          <p:nvPr/>
        </p:nvSpPr>
        <p:spPr>
          <a:xfrm>
            <a:off x="3278475" y="6237905"/>
            <a:ext cx="5267436" cy="369332"/>
          </a:xfrm>
          <a:prstGeom prst="rect">
            <a:avLst/>
          </a:prstGeom>
          <a:noFill/>
        </p:spPr>
        <p:txBody>
          <a:bodyPr wrap="square">
            <a:spAutoFit/>
          </a:bodyPr>
          <a:lstStyle/>
          <a:p>
            <a:r>
              <a:rPr lang="en-US" dirty="0"/>
              <a:t>“Scalability is not a feature. It is a design mindset.”</a:t>
            </a:r>
            <a:endParaRPr lang="en-IN" dirty="0"/>
          </a:p>
        </p:txBody>
      </p:sp>
    </p:spTree>
    <p:extLst>
      <p:ext uri="{BB962C8B-B14F-4D97-AF65-F5344CB8AC3E}">
        <p14:creationId xmlns:p14="http://schemas.microsoft.com/office/powerpoint/2010/main" val="22972595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BF1FA-DFC1-AEB8-FF82-C0B4FE12C24C}"/>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2929D3AD-0552-681E-1EFF-D5D2228C3039}"/>
              </a:ext>
            </a:extLst>
          </p:cNvPr>
          <p:cNvSpPr>
            <a:spLocks noGrp="1"/>
          </p:cNvSpPr>
          <p:nvPr>
            <p:ph type="title"/>
          </p:nvPr>
        </p:nvSpPr>
        <p:spPr>
          <a:xfrm>
            <a:off x="654393" y="987572"/>
            <a:ext cx="10515600" cy="533233"/>
          </a:xfrm>
        </p:spPr>
        <p:txBody>
          <a:bodyPr>
            <a:normAutofit fontScale="90000"/>
          </a:bodyPr>
          <a:lstStyle/>
          <a:p>
            <a:r>
              <a:rPr lang="en-US" b="1" dirty="0"/>
              <a:t>Scalability – Types</a:t>
            </a:r>
            <a:endParaRPr lang="en-IN" b="1" dirty="0"/>
          </a:p>
        </p:txBody>
      </p:sp>
      <p:pic>
        <p:nvPicPr>
          <p:cNvPr id="3" name="Picture 2">
            <a:extLst>
              <a:ext uri="{FF2B5EF4-FFF2-40B4-BE49-F238E27FC236}">
                <a16:creationId xmlns:a16="http://schemas.microsoft.com/office/drawing/2014/main" id="{ACD85BA1-B1E5-F8DB-0997-C59DCDB5082D}"/>
              </a:ext>
            </a:extLst>
          </p:cNvPr>
          <p:cNvPicPr>
            <a:picLocks noChangeAspect="1"/>
          </p:cNvPicPr>
          <p:nvPr/>
        </p:nvPicPr>
        <p:blipFill>
          <a:blip r:embed="rId2"/>
          <a:stretch>
            <a:fillRect/>
          </a:stretch>
        </p:blipFill>
        <p:spPr>
          <a:xfrm>
            <a:off x="654393" y="762000"/>
            <a:ext cx="9123479" cy="5761570"/>
          </a:xfrm>
          <a:prstGeom prst="rect">
            <a:avLst/>
          </a:prstGeom>
        </p:spPr>
      </p:pic>
    </p:spTree>
    <p:extLst>
      <p:ext uri="{BB962C8B-B14F-4D97-AF65-F5344CB8AC3E}">
        <p14:creationId xmlns:p14="http://schemas.microsoft.com/office/powerpoint/2010/main" val="4865282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964AB-4CAA-3B9F-C490-C40D58A00E46}"/>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0751ADC7-22DE-A4C2-4682-AF573C1F5843}"/>
              </a:ext>
            </a:extLst>
          </p:cNvPr>
          <p:cNvSpPr>
            <a:spLocks noGrp="1"/>
          </p:cNvSpPr>
          <p:nvPr>
            <p:ph type="title"/>
          </p:nvPr>
        </p:nvSpPr>
        <p:spPr>
          <a:xfrm>
            <a:off x="654393" y="987572"/>
            <a:ext cx="10515600" cy="533233"/>
          </a:xfrm>
        </p:spPr>
        <p:txBody>
          <a:bodyPr>
            <a:normAutofit fontScale="90000"/>
          </a:bodyPr>
          <a:lstStyle/>
          <a:p>
            <a:r>
              <a:rPr lang="en-US" b="1" dirty="0"/>
              <a:t>Which Scaling Technique is Preferred ?</a:t>
            </a:r>
            <a:endParaRPr lang="en-IN" b="1" dirty="0"/>
          </a:p>
        </p:txBody>
      </p:sp>
      <p:graphicFrame>
        <p:nvGraphicFramePr>
          <p:cNvPr id="3" name="Table 2">
            <a:extLst>
              <a:ext uri="{FF2B5EF4-FFF2-40B4-BE49-F238E27FC236}">
                <a16:creationId xmlns:a16="http://schemas.microsoft.com/office/drawing/2014/main" id="{650243B9-06DA-737F-352C-3DBF34542845}"/>
              </a:ext>
            </a:extLst>
          </p:cNvPr>
          <p:cNvGraphicFramePr>
            <a:graphicFrameLocks noGrp="1"/>
          </p:cNvGraphicFramePr>
          <p:nvPr>
            <p:extLst>
              <p:ext uri="{D42A27DB-BD31-4B8C-83A1-F6EECF244321}">
                <p14:modId xmlns:p14="http://schemas.microsoft.com/office/powerpoint/2010/main" val="3229530665"/>
              </p:ext>
            </p:extLst>
          </p:nvPr>
        </p:nvGraphicFramePr>
        <p:xfrm>
          <a:off x="856343" y="2047723"/>
          <a:ext cx="8128000" cy="18542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604708443"/>
                    </a:ext>
                  </a:extLst>
                </a:gridCol>
                <a:gridCol w="4064000">
                  <a:extLst>
                    <a:ext uri="{9D8B030D-6E8A-4147-A177-3AD203B41FA5}">
                      <a16:colId xmlns:a16="http://schemas.microsoft.com/office/drawing/2014/main" val="2089163315"/>
                    </a:ext>
                  </a:extLst>
                </a:gridCol>
              </a:tblGrid>
              <a:tr h="370840">
                <a:tc>
                  <a:txBody>
                    <a:bodyPr/>
                    <a:lstStyle/>
                    <a:p>
                      <a:r>
                        <a:rPr lang="en-US" dirty="0"/>
                        <a:t>Scenario</a:t>
                      </a:r>
                      <a:endParaRPr lang="en-IN" dirty="0"/>
                    </a:p>
                  </a:txBody>
                  <a:tcPr/>
                </a:tc>
                <a:tc>
                  <a:txBody>
                    <a:bodyPr/>
                    <a:lstStyle/>
                    <a:p>
                      <a:r>
                        <a:rPr lang="en-US" dirty="0"/>
                        <a:t>Best Choice for Scaling</a:t>
                      </a:r>
                      <a:endParaRPr lang="en-IN" dirty="0"/>
                    </a:p>
                  </a:txBody>
                  <a:tcPr/>
                </a:tc>
                <a:extLst>
                  <a:ext uri="{0D108BD9-81ED-4DB2-BD59-A6C34878D82A}">
                    <a16:rowId xmlns:a16="http://schemas.microsoft.com/office/drawing/2014/main" val="931097361"/>
                  </a:ext>
                </a:extLst>
              </a:tr>
              <a:tr h="370840">
                <a:tc>
                  <a:txBody>
                    <a:bodyPr/>
                    <a:lstStyle/>
                    <a:p>
                      <a:r>
                        <a:rPr lang="en-US" dirty="0"/>
                        <a:t>Small Systems</a:t>
                      </a:r>
                      <a:endParaRPr lang="en-IN" dirty="0"/>
                    </a:p>
                  </a:txBody>
                  <a:tcPr/>
                </a:tc>
                <a:tc>
                  <a:txBody>
                    <a:bodyPr/>
                    <a:lstStyle/>
                    <a:p>
                      <a:r>
                        <a:rPr lang="en-US" dirty="0"/>
                        <a:t>Vertical</a:t>
                      </a:r>
                      <a:endParaRPr lang="en-IN" dirty="0"/>
                    </a:p>
                  </a:txBody>
                  <a:tcPr/>
                </a:tc>
                <a:extLst>
                  <a:ext uri="{0D108BD9-81ED-4DB2-BD59-A6C34878D82A}">
                    <a16:rowId xmlns:a16="http://schemas.microsoft.com/office/drawing/2014/main" val="3209693956"/>
                  </a:ext>
                </a:extLst>
              </a:tr>
              <a:tr h="370840">
                <a:tc>
                  <a:txBody>
                    <a:bodyPr/>
                    <a:lstStyle/>
                    <a:p>
                      <a:r>
                        <a:rPr lang="en-US" dirty="0"/>
                        <a:t>High Traffic</a:t>
                      </a:r>
                      <a:endParaRPr lang="en-IN" dirty="0"/>
                    </a:p>
                  </a:txBody>
                  <a:tcPr/>
                </a:tc>
                <a:tc>
                  <a:txBody>
                    <a:bodyPr/>
                    <a:lstStyle/>
                    <a:p>
                      <a:r>
                        <a:rPr lang="en-US" dirty="0"/>
                        <a:t>Horizontal</a:t>
                      </a:r>
                      <a:endParaRPr lang="en-IN" dirty="0"/>
                    </a:p>
                  </a:txBody>
                  <a:tcPr/>
                </a:tc>
                <a:extLst>
                  <a:ext uri="{0D108BD9-81ED-4DB2-BD59-A6C34878D82A}">
                    <a16:rowId xmlns:a16="http://schemas.microsoft.com/office/drawing/2014/main" val="3499600718"/>
                  </a:ext>
                </a:extLst>
              </a:tr>
              <a:tr h="370840">
                <a:tc>
                  <a:txBody>
                    <a:bodyPr/>
                    <a:lstStyle/>
                    <a:p>
                      <a:r>
                        <a:rPr lang="en-US" dirty="0"/>
                        <a:t>High Availability</a:t>
                      </a:r>
                      <a:endParaRPr lang="en-IN" dirty="0"/>
                    </a:p>
                  </a:txBody>
                  <a:tcPr/>
                </a:tc>
                <a:tc>
                  <a:txBody>
                    <a:bodyPr/>
                    <a:lstStyle/>
                    <a:p>
                      <a:r>
                        <a:rPr lang="en-US" dirty="0"/>
                        <a:t>Horizontal</a:t>
                      </a:r>
                      <a:endParaRPr lang="en-IN" dirty="0"/>
                    </a:p>
                  </a:txBody>
                  <a:tcPr/>
                </a:tc>
                <a:extLst>
                  <a:ext uri="{0D108BD9-81ED-4DB2-BD59-A6C34878D82A}">
                    <a16:rowId xmlns:a16="http://schemas.microsoft.com/office/drawing/2014/main" val="30754489"/>
                  </a:ext>
                </a:extLst>
              </a:tr>
              <a:tr h="370840">
                <a:tc>
                  <a:txBody>
                    <a:bodyPr/>
                    <a:lstStyle/>
                    <a:p>
                      <a:r>
                        <a:rPr lang="en-US" dirty="0"/>
                        <a:t>Cloud Systems</a:t>
                      </a:r>
                      <a:endParaRPr lang="en-IN" dirty="0"/>
                    </a:p>
                  </a:txBody>
                  <a:tcPr/>
                </a:tc>
                <a:tc>
                  <a:txBody>
                    <a:bodyPr/>
                    <a:lstStyle/>
                    <a:p>
                      <a:r>
                        <a:rPr lang="en-US" dirty="0"/>
                        <a:t>Horizontal</a:t>
                      </a:r>
                      <a:endParaRPr lang="en-IN" dirty="0"/>
                    </a:p>
                  </a:txBody>
                  <a:tcPr/>
                </a:tc>
                <a:extLst>
                  <a:ext uri="{0D108BD9-81ED-4DB2-BD59-A6C34878D82A}">
                    <a16:rowId xmlns:a16="http://schemas.microsoft.com/office/drawing/2014/main" val="2450097412"/>
                  </a:ext>
                </a:extLst>
              </a:tr>
            </a:tbl>
          </a:graphicData>
        </a:graphic>
      </p:graphicFrame>
      <p:sp>
        <p:nvSpPr>
          <p:cNvPr id="7" name="TextBox 6">
            <a:extLst>
              <a:ext uri="{FF2B5EF4-FFF2-40B4-BE49-F238E27FC236}">
                <a16:creationId xmlns:a16="http://schemas.microsoft.com/office/drawing/2014/main" id="{CF462510-F47B-FF70-8496-1B6C0A23B33E}"/>
              </a:ext>
            </a:extLst>
          </p:cNvPr>
          <p:cNvSpPr txBox="1"/>
          <p:nvPr/>
        </p:nvSpPr>
        <p:spPr>
          <a:xfrm>
            <a:off x="856343" y="4670099"/>
            <a:ext cx="6096000" cy="1200329"/>
          </a:xfrm>
          <a:prstGeom prst="rect">
            <a:avLst/>
          </a:prstGeom>
          <a:noFill/>
        </p:spPr>
        <p:txBody>
          <a:bodyPr wrap="square">
            <a:spAutoFit/>
          </a:bodyPr>
          <a:lstStyle/>
          <a:p>
            <a:pPr>
              <a:buNone/>
            </a:pPr>
            <a:r>
              <a:rPr lang="en-US" b="1" dirty="0"/>
              <a:t>Scaling is Required When:</a:t>
            </a:r>
          </a:p>
          <a:p>
            <a:pPr>
              <a:buFont typeface="Arial" panose="020B0604020202020204" pitchFamily="34" charset="0"/>
              <a:buChar char="•"/>
            </a:pPr>
            <a:r>
              <a:rPr lang="en-US" dirty="0"/>
              <a:t>Latency increases</a:t>
            </a:r>
          </a:p>
          <a:p>
            <a:pPr>
              <a:buFont typeface="Arial" panose="020B0604020202020204" pitchFamily="34" charset="0"/>
              <a:buChar char="•"/>
            </a:pPr>
            <a:r>
              <a:rPr lang="en-US" dirty="0"/>
              <a:t>Throughput decreases</a:t>
            </a:r>
          </a:p>
          <a:p>
            <a:pPr>
              <a:buFont typeface="Arial" panose="020B0604020202020204" pitchFamily="34" charset="0"/>
              <a:buChar char="•"/>
            </a:pPr>
            <a:r>
              <a:rPr lang="en-US" dirty="0"/>
              <a:t>Errors increase</a:t>
            </a:r>
          </a:p>
        </p:txBody>
      </p:sp>
    </p:spTree>
    <p:extLst>
      <p:ext uri="{BB962C8B-B14F-4D97-AF65-F5344CB8AC3E}">
        <p14:creationId xmlns:p14="http://schemas.microsoft.com/office/powerpoint/2010/main" val="30276317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1B85F-129C-1E31-938E-7A7DF1597FB5}"/>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6EC29053-0C00-433D-D3C8-8249A2BCE63B}"/>
              </a:ext>
            </a:extLst>
          </p:cNvPr>
          <p:cNvSpPr>
            <a:spLocks noGrp="1"/>
          </p:cNvSpPr>
          <p:nvPr>
            <p:ph type="title"/>
          </p:nvPr>
        </p:nvSpPr>
        <p:spPr>
          <a:xfrm>
            <a:off x="654393" y="987572"/>
            <a:ext cx="10515600" cy="533233"/>
          </a:xfrm>
        </p:spPr>
        <p:txBody>
          <a:bodyPr>
            <a:normAutofit fontScale="90000"/>
          </a:bodyPr>
          <a:lstStyle/>
          <a:p>
            <a:r>
              <a:rPr lang="en-US" b="1" dirty="0"/>
              <a:t>System Design - Applications</a:t>
            </a:r>
            <a:endParaRPr lang="en-IN" b="1" dirty="0"/>
          </a:p>
        </p:txBody>
      </p:sp>
      <p:sp>
        <p:nvSpPr>
          <p:cNvPr id="2" name="Google Shape;113;p2">
            <a:extLst>
              <a:ext uri="{FF2B5EF4-FFF2-40B4-BE49-F238E27FC236}">
                <a16:creationId xmlns:a16="http://schemas.microsoft.com/office/drawing/2014/main" id="{67F0ABA8-64D6-40AE-F922-A2B8E767F57B}"/>
              </a:ext>
            </a:extLst>
          </p:cNvPr>
          <p:cNvSpPr txBox="1"/>
          <p:nvPr/>
        </p:nvSpPr>
        <p:spPr>
          <a:xfrm>
            <a:off x="381224" y="1695325"/>
            <a:ext cx="11429552" cy="4856674"/>
          </a:xfrm>
          <a:prstGeom prst="rect">
            <a:avLst/>
          </a:prstGeom>
          <a:noFill/>
          <a:ln>
            <a:noFill/>
          </a:ln>
        </p:spPr>
        <p:txBody>
          <a:bodyPr spcFirstLastPara="1" wrap="square" lIns="91425" tIns="45700" rIns="91425" bIns="45700" anchor="t" anchorCtr="0">
            <a:spAutoFit/>
          </a:bodyPr>
          <a:lstStyle/>
          <a:p>
            <a:pPr lvl="0" algn="just">
              <a:lnSpc>
                <a:spcPct val="90000"/>
              </a:lnSpc>
            </a:pPr>
            <a:r>
              <a:rPr lang="en-IN" dirty="0"/>
              <a:t>System Design concepts are widely applied in real-world software systems to ensure scalability, performance, and reliability. The following applications demonstrate how system design principles are used in practice:</a:t>
            </a:r>
          </a:p>
          <a:p>
            <a:pPr lvl="0" algn="just">
              <a:lnSpc>
                <a:spcPct val="90000"/>
              </a:lnSpc>
            </a:pPr>
            <a:endParaRPr lang="fr-FR"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algn="just"/>
            <a:r>
              <a:rPr lang="en-IN" b="1" dirty="0"/>
              <a:t>1. Web Applications</a:t>
            </a:r>
          </a:p>
          <a:p>
            <a:pPr algn="just"/>
            <a:r>
              <a:rPr lang="en-IN" dirty="0"/>
              <a:t>System design is used to design scalable web applications such as e-commerce websites, learning management systems, and social media platforms. Concepts like load balancing, caching, and modular architecture help these applications handle thousands or millions of users simultaneously.</a:t>
            </a:r>
          </a:p>
          <a:p>
            <a:pPr algn="just"/>
            <a:endParaRPr lang="en-IN" dirty="0"/>
          </a:p>
          <a:p>
            <a:pPr algn="just"/>
            <a:r>
              <a:rPr lang="en-IN" b="1" dirty="0"/>
              <a:t>2. Mobile Applications</a:t>
            </a:r>
          </a:p>
          <a:p>
            <a:pPr algn="just"/>
            <a:r>
              <a:rPr lang="en-IN" dirty="0"/>
              <a:t>Large mobile applications like food delivery, ride-sharing, and banking apps rely on system design to manage backend services, APIs, databases, and real-time notifications while maintaining low latency and high availability.</a:t>
            </a:r>
          </a:p>
          <a:p>
            <a:pPr algn="just"/>
            <a:endParaRPr lang="en-IN" dirty="0"/>
          </a:p>
          <a:p>
            <a:pPr algn="just"/>
            <a:r>
              <a:rPr lang="en-IN" b="1" dirty="0"/>
              <a:t>3. Enterprise Software Systems</a:t>
            </a:r>
          </a:p>
          <a:p>
            <a:pPr algn="just"/>
            <a:r>
              <a:rPr lang="en-IN" dirty="0"/>
              <a:t>Organizations use system design to build enterprise systems such as ERP, CRM, and payroll management systems. Proper system design ensures data consistency, security, fault tolerance, and smooth integration between multiple modules.</a:t>
            </a:r>
          </a:p>
          <a:p>
            <a:endParaRPr lang="en-IN" dirty="0"/>
          </a:p>
          <a:p>
            <a:pPr marR="0" lvl="0" algn="just" rtl="0">
              <a:lnSpc>
                <a:spcPct val="90000"/>
              </a:lnSpc>
              <a:spcBef>
                <a:spcPts val="0"/>
              </a:spcBef>
              <a:spcAft>
                <a:spcPts val="0"/>
              </a:spcAft>
            </a:pPr>
            <a:endParaRPr lang="fr-FR" sz="300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spTree>
    <p:extLst>
      <p:ext uri="{BB962C8B-B14F-4D97-AF65-F5344CB8AC3E}">
        <p14:creationId xmlns:p14="http://schemas.microsoft.com/office/powerpoint/2010/main" val="10760649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FD7D3-9441-A0E6-8FC2-E5140729F08F}"/>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381BD308-1211-D99A-1847-A9BB06406A48}"/>
              </a:ext>
            </a:extLst>
          </p:cNvPr>
          <p:cNvSpPr>
            <a:spLocks noGrp="1"/>
          </p:cNvSpPr>
          <p:nvPr>
            <p:ph type="title"/>
          </p:nvPr>
        </p:nvSpPr>
        <p:spPr>
          <a:xfrm>
            <a:off x="654393" y="987572"/>
            <a:ext cx="10515600" cy="533233"/>
          </a:xfrm>
        </p:spPr>
        <p:txBody>
          <a:bodyPr>
            <a:normAutofit fontScale="90000"/>
          </a:bodyPr>
          <a:lstStyle/>
          <a:p>
            <a:r>
              <a:rPr lang="en-US" b="1" dirty="0"/>
              <a:t>System Design - Applications</a:t>
            </a:r>
            <a:endParaRPr lang="en-IN" b="1" dirty="0"/>
          </a:p>
        </p:txBody>
      </p:sp>
      <p:sp>
        <p:nvSpPr>
          <p:cNvPr id="3" name="Google Shape;113;p2">
            <a:extLst>
              <a:ext uri="{FF2B5EF4-FFF2-40B4-BE49-F238E27FC236}">
                <a16:creationId xmlns:a16="http://schemas.microsoft.com/office/drawing/2014/main" id="{CDDFDEB0-8835-427D-256A-81BAAAC50633}"/>
              </a:ext>
            </a:extLst>
          </p:cNvPr>
          <p:cNvSpPr txBox="1"/>
          <p:nvPr/>
        </p:nvSpPr>
        <p:spPr>
          <a:xfrm>
            <a:off x="479820" y="1782411"/>
            <a:ext cx="11232359" cy="4524275"/>
          </a:xfrm>
          <a:prstGeom prst="rect">
            <a:avLst/>
          </a:prstGeom>
          <a:noFill/>
          <a:ln>
            <a:noFill/>
          </a:ln>
        </p:spPr>
        <p:txBody>
          <a:bodyPr spcFirstLastPara="1" wrap="square" lIns="91425" tIns="45700" rIns="91425" bIns="45700" anchor="t" anchorCtr="0">
            <a:spAutoFit/>
          </a:bodyPr>
          <a:lstStyle/>
          <a:p>
            <a:pPr algn="just"/>
            <a:r>
              <a:rPr lang="en-IN" b="1" dirty="0"/>
              <a:t>4. Cloud-Based Systems</a:t>
            </a:r>
          </a:p>
          <a:p>
            <a:pPr algn="just"/>
            <a:r>
              <a:rPr lang="en-IN" dirty="0"/>
              <a:t>System design plays a crucial role in cloud platforms by enabling auto-scaling, high availability, disaster recovery, and efficient resource utilization. Applications hosted on cloud environments depend heavily on good architectural design.</a:t>
            </a:r>
          </a:p>
          <a:p>
            <a:pPr algn="just"/>
            <a:endParaRPr lang="en-IN" dirty="0"/>
          </a:p>
          <a:p>
            <a:pPr algn="just"/>
            <a:r>
              <a:rPr lang="en-IN" b="1" dirty="0"/>
              <a:t>5. Distributed Systems</a:t>
            </a:r>
          </a:p>
          <a:p>
            <a:pPr algn="just"/>
            <a:r>
              <a:rPr lang="en-IN" dirty="0"/>
              <a:t>System design is essential for distributed systems where components run on multiple machines. It helps in managing communication, data sharing, fault tolerance, and performance across distributed services.</a:t>
            </a:r>
          </a:p>
          <a:p>
            <a:pPr algn="just"/>
            <a:endParaRPr lang="en-IN" dirty="0"/>
          </a:p>
          <a:p>
            <a:pPr algn="just"/>
            <a:r>
              <a:rPr lang="en-IN" b="1" dirty="0"/>
              <a:t>6. Real-Time Systems</a:t>
            </a:r>
          </a:p>
          <a:p>
            <a:pPr algn="just"/>
            <a:r>
              <a:rPr lang="en-IN" dirty="0"/>
              <a:t>Applications such as online gaming, stock trading platforms, and live streaming systems use system design principles to achieve low latency, high throughput, and continuous availability.</a:t>
            </a:r>
          </a:p>
          <a:p>
            <a:pPr marR="0" lvl="0" algn="just" rtl="0">
              <a:lnSpc>
                <a:spcPct val="90000"/>
              </a:lnSpc>
              <a:spcBef>
                <a:spcPts val="0"/>
              </a:spcBef>
              <a:spcAft>
                <a:spcPts val="0"/>
              </a:spcAft>
            </a:pPr>
            <a:endParaRPr lang="fr-FR" sz="300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algn="just"/>
            <a:r>
              <a:rPr lang="en-IN" dirty="0"/>
              <a:t>System design concepts are not limited to interviews—they are applied in </a:t>
            </a:r>
            <a:r>
              <a:rPr lang="en-IN" b="1" dirty="0"/>
              <a:t>almost every large-scale software system</a:t>
            </a:r>
            <a:r>
              <a:rPr lang="en-IN" dirty="0"/>
              <a:t> used in daily life.</a:t>
            </a:r>
          </a:p>
          <a:p>
            <a:pPr marR="0" lvl="0" algn="just" rtl="0">
              <a:lnSpc>
                <a:spcPct val="90000"/>
              </a:lnSpc>
              <a:spcBef>
                <a:spcPts val="0"/>
              </a:spcBef>
              <a:spcAft>
                <a:spcPts val="0"/>
              </a:spcAft>
            </a:pPr>
            <a:endParaRPr lang="fr-FR" sz="300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spTree>
    <p:extLst>
      <p:ext uri="{BB962C8B-B14F-4D97-AF65-F5344CB8AC3E}">
        <p14:creationId xmlns:p14="http://schemas.microsoft.com/office/powerpoint/2010/main" val="25473135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37929-513E-5A56-5396-7DC0584B1A3C}"/>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7A3E70B8-61DF-3FF9-2101-415F737B3A0D}"/>
              </a:ext>
            </a:extLst>
          </p:cNvPr>
          <p:cNvSpPr>
            <a:spLocks noGrp="1"/>
          </p:cNvSpPr>
          <p:nvPr>
            <p:ph type="title"/>
          </p:nvPr>
        </p:nvSpPr>
        <p:spPr>
          <a:xfrm>
            <a:off x="2767865" y="3162383"/>
            <a:ext cx="6143222" cy="533233"/>
          </a:xfrm>
        </p:spPr>
        <p:txBody>
          <a:bodyPr>
            <a:normAutofit fontScale="90000"/>
          </a:bodyPr>
          <a:lstStyle/>
          <a:p>
            <a:pPr algn="ctr"/>
            <a:r>
              <a:rPr lang="en-US" b="1" dirty="0"/>
              <a:t>Thank You </a:t>
            </a:r>
            <a:br>
              <a:rPr lang="en-US" b="1" dirty="0"/>
            </a:br>
            <a:r>
              <a:rPr lang="en-US" b="1" dirty="0"/>
              <a:t>for </a:t>
            </a:r>
            <a:br>
              <a:rPr lang="en-US" b="1" dirty="0"/>
            </a:br>
            <a:r>
              <a:rPr lang="en-US" b="1" dirty="0"/>
              <a:t>your Patience</a:t>
            </a:r>
            <a:endParaRPr lang="en-IN" b="1" dirty="0"/>
          </a:p>
        </p:txBody>
      </p:sp>
      <p:sp>
        <p:nvSpPr>
          <p:cNvPr id="2" name="TextBox 1">
            <a:extLst>
              <a:ext uri="{FF2B5EF4-FFF2-40B4-BE49-F238E27FC236}">
                <a16:creationId xmlns:a16="http://schemas.microsoft.com/office/drawing/2014/main" id="{F5857402-88EB-9B49-BD13-CC1C9258D54D}"/>
              </a:ext>
            </a:extLst>
          </p:cNvPr>
          <p:cNvSpPr txBox="1"/>
          <p:nvPr/>
        </p:nvSpPr>
        <p:spPr>
          <a:xfrm>
            <a:off x="1532626" y="4779034"/>
            <a:ext cx="9126748" cy="369332"/>
          </a:xfrm>
          <a:prstGeom prst="rect">
            <a:avLst/>
          </a:prstGeom>
          <a:noFill/>
        </p:spPr>
        <p:txBody>
          <a:bodyPr wrap="square" rtlCol="0">
            <a:spAutoFit/>
          </a:bodyPr>
          <a:lstStyle/>
          <a:p>
            <a:pPr algn="ctr"/>
            <a:r>
              <a:rPr lang="en-US" dirty="0"/>
              <a:t>In case of any queries, feel free to ping..!</a:t>
            </a:r>
            <a:endParaRPr lang="en-IN" dirty="0"/>
          </a:p>
        </p:txBody>
      </p:sp>
    </p:spTree>
    <p:extLst>
      <p:ext uri="{BB962C8B-B14F-4D97-AF65-F5344CB8AC3E}">
        <p14:creationId xmlns:p14="http://schemas.microsoft.com/office/powerpoint/2010/main" val="1361000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3134</TotalTime>
  <Words>2632</Words>
  <Application>Microsoft Office PowerPoint</Application>
  <PresentationFormat>Widescreen</PresentationFormat>
  <Paragraphs>455</Paragraphs>
  <Slides>45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vt:lpstr>
      <vt:lpstr>Calibri</vt:lpstr>
      <vt:lpstr>Calibri Light</vt:lpstr>
      <vt:lpstr>Times New Roman</vt:lpstr>
      <vt:lpstr>Office Theme</vt:lpstr>
      <vt:lpstr>Department of Career Planning &amp; Development</vt:lpstr>
      <vt:lpstr>PowerPoint Presentation</vt:lpstr>
      <vt:lpstr>Communication – FE, BE &amp; API’s</vt:lpstr>
      <vt:lpstr>Communication – FE, BE &amp; API’s</vt:lpstr>
      <vt:lpstr>Tech-Stack</vt:lpstr>
      <vt:lpstr>Fundamentals – System Design</vt:lpstr>
      <vt:lpstr>Fundamentals – System Design</vt:lpstr>
      <vt:lpstr>Fundamentals – System Design</vt:lpstr>
      <vt:lpstr>Fundamentals – System Design</vt:lpstr>
      <vt:lpstr>Fundamentals – System Design</vt:lpstr>
      <vt:lpstr>Purpose – System Design</vt:lpstr>
      <vt:lpstr>Why – System Design ?</vt:lpstr>
      <vt:lpstr>Core Components of a Software System</vt:lpstr>
      <vt:lpstr>Requirements – Functional &amp; Non-Functional</vt:lpstr>
      <vt:lpstr>Requirements – Functional &amp; Non-Functional</vt:lpstr>
      <vt:lpstr>Requirements – Functional &amp; Non-Functional</vt:lpstr>
      <vt:lpstr>Functional &amp; Non-Functional - Ecommerce</vt:lpstr>
      <vt:lpstr>Designing – HLD vs LLD</vt:lpstr>
      <vt:lpstr>Designing – HLD vs LLD</vt:lpstr>
      <vt:lpstr>HLD – eCommerce Platform (Basic)</vt:lpstr>
      <vt:lpstr>Diagrams we use to build LLD</vt:lpstr>
      <vt:lpstr>LLD – eCommerce Platform (Basic)</vt:lpstr>
      <vt:lpstr>Diagrams we use to build LLD</vt:lpstr>
      <vt:lpstr>Key Performance Metrics in System Design</vt:lpstr>
      <vt:lpstr>Key Performance Metrics in System Design</vt:lpstr>
      <vt:lpstr>Key Performance Metrics in System Design</vt:lpstr>
      <vt:lpstr>Key Performance Metrics in System Design</vt:lpstr>
      <vt:lpstr>Key Performance Metrics in System Design</vt:lpstr>
      <vt:lpstr>Key Performance Metrics in System Design</vt:lpstr>
      <vt:lpstr>Key Performance Metrics in System Design</vt:lpstr>
      <vt:lpstr>Key Performance Metrics in System Design</vt:lpstr>
      <vt:lpstr>Key Performance Metrics in System Design</vt:lpstr>
      <vt:lpstr>Key Performance Metrics in System Design</vt:lpstr>
      <vt:lpstr>Applications</vt:lpstr>
      <vt:lpstr>Scalability</vt:lpstr>
      <vt:lpstr>Scalability</vt:lpstr>
      <vt:lpstr>Scalability</vt:lpstr>
      <vt:lpstr>Scalability</vt:lpstr>
      <vt:lpstr>Scalability – Key Pointers</vt:lpstr>
      <vt:lpstr>Scalability – Types</vt:lpstr>
      <vt:lpstr>Scalability – Types</vt:lpstr>
      <vt:lpstr>Which Scaling Technique is Preferred ?</vt:lpstr>
      <vt:lpstr>System Design - Applications</vt:lpstr>
      <vt:lpstr>System Design - Applications</vt:lpstr>
      <vt:lpstr>Thank You  for  your Patience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Alok Singh Rathore</dc:creator>
  <cp:lastModifiedBy>Alok Singh Rathore</cp:lastModifiedBy>
  <cp:revision>7</cp:revision>
  <dcterms:created xsi:type="dcterms:W3CDTF">2026-01-04T05:19:06Z</dcterms:created>
  <dcterms:modified xsi:type="dcterms:W3CDTF">2026-01-07T16:51:47Z</dcterms:modified>
</cp:coreProperties>
</file>